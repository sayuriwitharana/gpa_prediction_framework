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68" r:id="rId4"/>
    <p:sldId id="269" r:id="rId5"/>
    <p:sldId id="270" r:id="rId6"/>
    <p:sldId id="271" r:id="rId7"/>
    <p:sldId id="272" r:id="rId8"/>
    <p:sldId id="273" r:id="rId9"/>
    <p:sldId id="279" r:id="rId10"/>
    <p:sldId id="274" r:id="rId11"/>
    <p:sldId id="275" r:id="rId12"/>
    <p:sldId id="27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075947C-FF8E-C4C1-15FD-86BC4D5FC07E}" name="Andrew Lesley Vinushly" initials="AV" userId="S::w1912912@westminster.ac.uk::95c084b7-6497-4f5a-a5fe-89c388c0693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EADA"/>
    <a:srgbClr val="FBF7F1"/>
    <a:srgbClr val="D8963D"/>
    <a:srgbClr val="E9EBF5"/>
    <a:srgbClr val="8E1F20"/>
    <a:srgbClr val="DDA355"/>
    <a:srgbClr val="B9996B"/>
    <a:srgbClr val="BE7C26"/>
    <a:srgbClr val="CFD5EA"/>
    <a:srgbClr val="1F4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2"/>
    <p:restoredTop sz="94976" autoAdjust="0"/>
  </p:normalViewPr>
  <p:slideViewPr>
    <p:cSldViewPr snapToGrid="0">
      <p:cViewPr varScale="1">
        <p:scale>
          <a:sx n="78" d="100"/>
          <a:sy n="78" d="100"/>
        </p:scale>
        <p:origin x="2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E0D744-E84F-6343-A86E-B978A19DD840}" type="datetimeFigureOut">
              <a:rPr lang="en-US" smtClean="0"/>
              <a:t>8/2/2026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8C1E9-10D7-BC49-9440-411BDAEE25A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083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8C1E9-10D7-BC49-9440-411BDAEE25A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631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8C1E9-10D7-BC49-9440-411BDAEE25A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2670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7A4AEA7-C69E-EC95-FA96-07651E7F961E}"/>
              </a:ext>
            </a:extLst>
          </p:cNvPr>
          <p:cNvSpPr/>
          <p:nvPr userDrawn="1"/>
        </p:nvSpPr>
        <p:spPr>
          <a:xfrm>
            <a:off x="0" y="5873610"/>
            <a:ext cx="12192000" cy="984390"/>
          </a:xfrm>
          <a:prstGeom prst="rect">
            <a:avLst/>
          </a:prstGeom>
          <a:solidFill>
            <a:srgbClr val="BE7C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823CD2-D686-F273-ACE8-AC6A5193C39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3032" y="3601484"/>
            <a:ext cx="10420768" cy="1488697"/>
          </a:xfrm>
        </p:spPr>
        <p:txBody>
          <a:bodyPr anchor="b"/>
          <a:lstStyle>
            <a:lvl1pPr algn="l">
              <a:defRPr sz="2800" b="0" i="0">
                <a:latin typeface="Helvetica Light" panose="020B0403020202020204" pitchFamily="34" charset="0"/>
              </a:defRPr>
            </a:lvl1pPr>
          </a:lstStyle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5907D2-0D25-00D2-327C-3DF761F69F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3032" y="5195330"/>
            <a:ext cx="10420768" cy="47847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latin typeface="Helvetica Light" panose="020B04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Subtitle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2A7B7-97FF-9CD1-FD2F-BCF95653E6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51602" y="6470650"/>
            <a:ext cx="885024" cy="365125"/>
          </a:xfrm>
        </p:spPr>
        <p:txBody>
          <a:bodyPr/>
          <a:lstStyle/>
          <a:p>
            <a:fld id="{2CA05847-19ED-4347-AEF2-B952E6249A27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FDF7C-F842-163C-A5D7-8DC89EC5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 descr="A logo of university of moratuna&#10;&#10;Description automatically generated">
            <a:extLst>
              <a:ext uri="{FF2B5EF4-FFF2-40B4-BE49-F238E27FC236}">
                <a16:creationId xmlns:a16="http://schemas.microsoft.com/office/drawing/2014/main" id="{10FCD895-49D4-2C2B-0DDA-EB174522DF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5810152"/>
            <a:ext cx="993179" cy="10478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E5BC98-C9BE-F182-327E-BA1B46C3C367}"/>
              </a:ext>
            </a:extLst>
          </p:cNvPr>
          <p:cNvSpPr txBox="1"/>
          <p:nvPr userDrawn="1"/>
        </p:nvSpPr>
        <p:spPr>
          <a:xfrm>
            <a:off x="5062822" y="6078801"/>
            <a:ext cx="34991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UNIVERSITY OF </a:t>
            </a:r>
            <a:r>
              <a:rPr lang="en-US" sz="16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  <a:cs typeface="Bangla Sangam MN" panose="02000000000000000000" pitchFamily="2" charset="0"/>
              </a:rPr>
              <a:t>MORATUWA</a:t>
            </a:r>
            <a:br>
              <a:rPr lang="en-US" sz="16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sz="12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Centre for Open and Distance Learning</a:t>
            </a:r>
            <a:endParaRPr lang="en-US" sz="1600" b="1" dirty="0">
              <a:solidFill>
                <a:schemeClr val="bg1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F38F87-AB65-252B-4161-C4F3025B79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22189" b="28622"/>
          <a:stretch>
            <a:fillRect/>
          </a:stretch>
        </p:blipFill>
        <p:spPr>
          <a:xfrm>
            <a:off x="0" y="0"/>
            <a:ext cx="12192000" cy="317452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1BCC698-00FA-02AC-2EC8-E03C42F083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798490" y="6097902"/>
            <a:ext cx="555310" cy="5553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8C88C4-B11C-9D28-79DC-BE2A7143E42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492998" y="6089239"/>
            <a:ext cx="547928" cy="5479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CDFCA1-516B-CA9E-9106-61501DE8953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32376" y="6146958"/>
            <a:ext cx="39497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484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B6725CB-DD15-E2D5-8817-D451B2847E89}"/>
              </a:ext>
            </a:extLst>
          </p:cNvPr>
          <p:cNvSpPr/>
          <p:nvPr userDrawn="1"/>
        </p:nvSpPr>
        <p:spPr>
          <a:xfrm>
            <a:off x="0" y="6386513"/>
            <a:ext cx="12247233" cy="471487"/>
          </a:xfrm>
          <a:prstGeom prst="rect">
            <a:avLst/>
          </a:prstGeom>
          <a:solidFill>
            <a:srgbClr val="D896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D97062-BBA5-C8F4-B8C5-FC4B9E6AC3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773" y="6467507"/>
            <a:ext cx="333792" cy="3337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6E85E-58C5-3FDA-6529-8BC9EE028F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42337" y="6478912"/>
            <a:ext cx="329714" cy="3297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2DB0DD7-EFDB-94C9-A0F9-DFF73169462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1428" y="6464962"/>
            <a:ext cx="337679" cy="33767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678ECB-9A15-B439-AF83-8F512B9DD04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952765" y="6467688"/>
            <a:ext cx="2848362" cy="32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16F693-A763-0D6D-D42F-7AAE7F4D2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6455"/>
          </a:xfrm>
        </p:spPr>
        <p:txBody>
          <a:bodyPr>
            <a:normAutofit/>
          </a:bodyPr>
          <a:lstStyle>
            <a:lvl1pPr>
              <a:defRPr sz="3200" b="0" i="0">
                <a:latin typeface="Helvetica Light" panose="020B0403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9FEBE-C4E2-45C5-F282-8D45A2646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718"/>
            <a:ext cx="10515600" cy="4881245"/>
          </a:xfrm>
        </p:spPr>
        <p:txBody>
          <a:bodyPr/>
          <a:lstStyle>
            <a:lvl1pPr>
              <a:defRPr sz="2400" b="0" i="0">
                <a:latin typeface="Helvetica Light" panose="020B0403020202020204" pitchFamily="34" charset="0"/>
              </a:defRPr>
            </a:lvl1pPr>
            <a:lvl2pPr>
              <a:defRPr sz="2000" b="0" i="0">
                <a:latin typeface="Helvetica Light" panose="020B0403020202020204" pitchFamily="34" charset="0"/>
              </a:defRPr>
            </a:lvl2pPr>
            <a:lvl3pPr>
              <a:defRPr sz="1600" b="0" i="0">
                <a:latin typeface="Helvetica Light" panose="020B0403020202020204" pitchFamily="34" charset="0"/>
              </a:defRPr>
            </a:lvl3pPr>
            <a:lvl4pPr>
              <a:defRPr sz="1400" b="0" i="0">
                <a:latin typeface="Helvetica Light" panose="020B0403020202020204" pitchFamily="34" charset="0"/>
              </a:defRPr>
            </a:lvl4pPr>
            <a:lvl5pPr>
              <a:defRPr sz="1200" b="0" i="0">
                <a:latin typeface="Helvetica Light" panose="020B0403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535BE-12FB-ABC9-1582-FEA1C5A9E9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582025" y="6451600"/>
            <a:ext cx="2743200" cy="365125"/>
          </a:xfrm>
        </p:spPr>
        <p:txBody>
          <a:bodyPr/>
          <a:lstStyle/>
          <a:p>
            <a:fld id="{858B1FD3-4AEA-41A5-943D-86B4B96C521D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1F0D1-18D2-E00A-1709-989FADF31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9BF95-FD3F-9D31-E0D8-D1B7C1BE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10D4-8309-FA4E-999D-6938C4C3C70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3919E0-AD3E-C694-05D7-9C8811DCBB6C}"/>
              </a:ext>
            </a:extLst>
          </p:cNvPr>
          <p:cNvSpPr txBox="1"/>
          <p:nvPr userDrawn="1"/>
        </p:nvSpPr>
        <p:spPr>
          <a:xfrm>
            <a:off x="4346425" y="6456645"/>
            <a:ext cx="3499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UNIVERSITY OF </a:t>
            </a:r>
            <a:r>
              <a:rPr lang="en-US" sz="10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  <a:cs typeface="Bangla Sangam MN" panose="02000000000000000000" pitchFamily="2" charset="0"/>
              </a:rPr>
              <a:t>MORATUWA</a:t>
            </a:r>
            <a:br>
              <a:rPr lang="en-US" sz="10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sz="800" b="1" dirty="0">
                <a:solidFill>
                  <a:schemeClr val="bg1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Centre for Open and  Distance Learning</a:t>
            </a:r>
            <a:endParaRPr lang="en-US" sz="1000" b="1" dirty="0">
              <a:solidFill>
                <a:schemeClr val="bg1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2290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B7258-7DF7-6F12-F6A4-FA86F209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9392C8-15D6-5420-8CC6-1FE77A02D7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79B64-BBDE-4ED8-6931-53EFBEE506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706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0BE1F675-7703-4C18-A059-3C6B370B5644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29463-8263-DA6C-1CA8-766FCBB6BC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706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E67D-10E4-C059-B683-7A8710201B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706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863210D4-8309-FA4E-999D-6938C4C3C70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1751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43855B9-DB2C-F27C-5B9D-47B749731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3032" y="3287335"/>
            <a:ext cx="10420768" cy="1147446"/>
          </a:xfrm>
        </p:spPr>
        <p:txBody>
          <a:bodyPr/>
          <a:lstStyle/>
          <a:p>
            <a:r>
              <a:rPr dirty="0"/>
              <a:t>A Group-Stratified Reliability Framework for Trustworthy Early-GPA Prediction in Higher Education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FE15B6C6-B1A2-75CE-4997-9076D57665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3032" y="4638894"/>
            <a:ext cx="10420768" cy="478472"/>
          </a:xfrm>
        </p:spPr>
        <p:txBody>
          <a:bodyPr>
            <a:noAutofit/>
          </a:bodyPr>
          <a:lstStyle/>
          <a:p>
            <a:r>
              <a:rPr dirty="0"/>
              <a:t>Sayuri Witharana  |  Tiloka de Silva</a:t>
            </a:r>
          </a:p>
          <a:p>
            <a:r>
              <a:rPr dirty="0"/>
              <a:t>Faculty of Business Science, University of Moratuwa</a:t>
            </a:r>
          </a:p>
          <a:p>
            <a:r>
              <a:rPr dirty="0"/>
              <a:t>ICODE 2026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EB532A-0E1B-B62C-36B8-F727E5151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74077-899A-4B14-AB6E-0313F990C7DA}" type="datetime1">
              <a:rPr lang="en-US" smtClean="0"/>
              <a:t>8/2/2026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359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DD428C3-C6C5-C588-F0A8-8EC4D0B815CE}"/>
              </a:ext>
            </a:extLst>
          </p:cNvPr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The Problem: Why Accuracy Alone Isn't Enough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AD189A8-9DF0-4A7D-5611-C7570DD55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534422"/>
            <a:ext cx="10515600" cy="4371570"/>
          </a:xfrm>
          <a:ln/>
        </p:spPr>
        <p:txBody>
          <a:bodyPr>
            <a:normAutofit/>
          </a:bodyPr>
          <a:lstStyle/>
          <a:p>
            <a:r>
              <a:rPr lang="en-US" dirty="0">
                <a:solidFill>
                  <a:srgbClr val="2E2622"/>
                </a:solidFill>
                <a:latin typeface="Helvetica Light" panose="020B0403020202020204"/>
                <a:ea typeface="Calibri" pitchFamily="34" charset="-122"/>
                <a:cs typeface="Calibri" pitchFamily="34" charset="-120"/>
              </a:rPr>
              <a:t>Universities increasingly use GPA prediction to guide academic advising and student intervention.</a:t>
            </a:r>
          </a:p>
          <a:p>
            <a:pPr marL="0" indent="0">
              <a:buNone/>
            </a:pPr>
            <a:endParaRPr lang="en-US" dirty="0">
              <a:latin typeface="Helvetica Light" panose="020B0403020202020204"/>
            </a:endParaRPr>
          </a:p>
          <a:p>
            <a:r>
              <a:rPr b="0" dirty="0">
                <a:solidFill/>
              </a:rPr>
              <a:t>Today's evaluation asks only “is it accurate?” — hiding a real inequity: a model can look fine overall while failing the students who need help most.</a:t>
            </a:r>
            <a:endParaRPr lang="en-GB" b="0" dirty="0"/>
          </a:p>
          <a:p>
            <a:pPr marL="0" indent="0">
              <a:buNone/>
            </a:pPr>
            <a:endParaRPr b="0" dirty="0"/>
          </a:p>
          <a:p>
            <a:r>
              <a:rPr b="1" dirty="0">
                <a:solidFill/>
              </a:rPr>
              <a:t>Three questions accuracy alone can't answer:</a:t>
            </a:r>
          </a:p>
          <a:p>
            <a:pPr lvl="1"/>
            <a:r>
              <a:rPr sz="2400" b="0" dirty="0">
                <a:solidFill/>
              </a:rPr>
              <a:t>When does a prediction become stable enough to act on?</a:t>
            </a:r>
          </a:p>
          <a:p>
            <a:pPr lvl="1"/>
            <a:r>
              <a:rPr sz="2400" b="0" dirty="0">
                <a:solidFill/>
              </a:rPr>
              <a:t>Does reliability emerge equally across performance groups?</a:t>
            </a:r>
          </a:p>
          <a:p>
            <a:pPr lvl="1"/>
            <a:r>
              <a:rPr sz="2400" b="0" dirty="0">
                <a:solidFill/>
              </a:rPr>
              <a:t>Do early predictions systematically overpredict at-risk students?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3696D-E439-FAD9-193F-773219E84D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fld id="{CAD26966-9675-4C47-8E10-00540E5C7DA5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9E16CE-D55E-7594-4432-6B8D8E7AE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/>
          <a:p>
            <a:fld id="{863210D4-8309-FA4E-999D-6938C4C3C70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078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Rule"/>
          <p:cNvSpPr/>
          <p:nvPr/>
        </p:nvSpPr>
        <p:spPr>
          <a:xfrm>
            <a:off x="841248" y="1581912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Research Question &amp; the Gap in the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39911"/>
            <a:ext cx="10515600" cy="1144929"/>
          </a:xfrm>
          <a:prstGeom prst="rect">
            <a:avLst/>
          </a:prstGeom>
          <a:solidFill>
            <a:srgbClr val="F5EADA"/>
          </a:solidFill>
          <a:ln/>
        </p:spPr>
        <p:txBody>
          <a:bodyPr wrap="square" lIns="182880" tIns="18288" rIns="182880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 dirty="0">
                <a:latin typeface="Helvetica Light" panose="020B0403020202020204"/>
              </a:rPr>
              <a:t>RQ:  What is the earliest semester a student's final GPA can be forecast</a:t>
            </a:r>
            <a:r>
              <a:rPr lang="en-GB" sz="2400" b="1" i="0" dirty="0">
                <a:latin typeface="Helvetica Light" panose="020B0403020202020204"/>
              </a:rPr>
              <a:t>ed</a:t>
            </a:r>
            <a:r>
              <a:rPr sz="2400" b="1" i="0" dirty="0">
                <a:latin typeface="Helvetica Light" panose="020B0403020202020204"/>
              </a:rPr>
              <a:t> reliably across performance groups, accounting for prediction stability and error asymmetry</a:t>
            </a:r>
            <a:r>
              <a:rPr lang="en-GB" sz="2400" b="1" i="0" dirty="0">
                <a:latin typeface="Helvetica Light" panose="020B0403020202020204"/>
              </a:rPr>
              <a:t> among student groups</a:t>
            </a:r>
            <a:r>
              <a:rPr sz="2400" b="1" i="0" dirty="0">
                <a:latin typeface="Helvetica Light" panose="020B0403020202020204"/>
              </a:rPr>
              <a:t>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3932224"/>
              </p:ext>
            </p:extLst>
          </p:nvPr>
        </p:nvGraphicFramePr>
        <p:xfrm>
          <a:off x="841248" y="2795702"/>
          <a:ext cx="10512552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4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39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4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78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Source</a:t>
                      </a:r>
                    </a:p>
                  </a:txBody>
                  <a:tcPr marL="36576" marR="36576" marT="13716" marB="13716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What It Shows</a:t>
                      </a:r>
                    </a:p>
                  </a:txBody>
                  <a:tcPr marL="36576" marR="36576" marT="13716" marB="13716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Critical Gap</a:t>
                      </a:r>
                    </a:p>
                  </a:txBody>
                  <a:tcPr marL="36576" marR="36576" marT="13716" marB="13716" anchor="ctr">
                    <a:solidFill>
                      <a:srgbClr val="7B00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212-study systematic review</a:t>
                      </a:r>
                    </a:p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(Gunasekara &amp; Saarela, 2025) [6]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Explainability-focused EDM literature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Only 3.3% report stability; 5.6% report fairness metrics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24-study GPA prediction survey</a:t>
                      </a:r>
                    </a:p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(</a:t>
                      </a:r>
                      <a:r>
                        <a:rPr sz="2000" b="0" dirty="0" err="1">
                          <a:solidFill/>
                          <a:latin typeface="Helvetica Light" panose="020B0403020202020204"/>
                        </a:rPr>
                        <a:t>Alturki</a:t>
                      </a:r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 et al., 2020) [5]</a:t>
                      </a:r>
                    </a:p>
                  </a:txBody>
                  <a:tcPr marL="36576" marR="36576" marT="13716" marB="13716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75% frame outcomes as pass/fail or degree class</a:t>
                      </a:r>
                    </a:p>
                  </a:txBody>
                  <a:tcPr marL="36576" marR="36576" marT="13716" marB="13716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Continuous error magnitude &amp; group-level bias rarely quantified</a:t>
                      </a:r>
                    </a:p>
                  </a:txBody>
                  <a:tcPr marL="36576" marR="36576" marT="13716" marB="13716" anchor="ctr">
                    <a:solidFill>
                      <a:srgbClr val="F5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Comparative GPA model study</a:t>
                      </a:r>
                    </a:p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(</a:t>
                      </a:r>
                      <a:r>
                        <a:rPr sz="2000" b="0" dirty="0" err="1">
                          <a:solidFill/>
                          <a:latin typeface="Helvetica Light" panose="020B0403020202020204"/>
                        </a:rPr>
                        <a:t>Putpuek</a:t>
                      </a:r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 et al., 2018) [7]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Very high recall for good students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/>
                          <a:latin typeface="Helvetica Light" panose="020B0403020202020204"/>
                        </a:rPr>
                        <a:t>Near-zero recall for poor students — error asymmetry ignored</a:t>
                      </a:r>
                    </a:p>
                  </a:txBody>
                  <a:tcPr marL="36576" marR="36576" marT="13716" marB="13716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14D5BA-D27F-7CA8-7C82-68008887A32C}"/>
              </a:ext>
            </a:extLst>
          </p:cNvPr>
          <p:cNvSpPr/>
          <p:nvPr/>
        </p:nvSpPr>
        <p:spPr>
          <a:xfrm>
            <a:off x="841248" y="3090672"/>
            <a:ext cx="5468112" cy="3035808"/>
          </a:xfrm>
          <a:prstGeom prst="rect">
            <a:avLst/>
          </a:prstGeom>
          <a:solidFill>
            <a:srgbClr val="FBF7F1"/>
          </a:solidFill>
          <a:ln w="9525">
            <a:solidFill>
              <a:srgbClr val="E0C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6F36E8-06E0-D0D5-D208-4FA36ADF7843}"/>
              </a:ext>
            </a:extLst>
          </p:cNvPr>
          <p:cNvSpPr/>
          <p:nvPr/>
        </p:nvSpPr>
        <p:spPr>
          <a:xfrm>
            <a:off x="841248" y="4455880"/>
            <a:ext cx="5468112" cy="939080"/>
          </a:xfrm>
          <a:prstGeom prst="rect">
            <a:avLst/>
          </a:prstGeom>
          <a:solidFill>
            <a:srgbClr val="F5EA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Data</a:t>
            </a:r>
            <a:r>
              <a:rPr lang="en-GB" dirty="0">
                <a:solidFill/>
              </a:rPr>
              <a:t> used in the research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298448"/>
            <a:ext cx="10515600" cy="1609344"/>
          </a:xfrm>
          <a:ln/>
        </p:spPr>
        <p:txBody>
          <a:bodyPr>
            <a:noAutofit/>
          </a:bodyPr>
          <a:lstStyle/>
          <a:p>
            <a:r>
              <a:rPr dirty="0">
                <a:solidFill/>
              </a:rPr>
              <a:t>Source: Faculty of Business Science, University of Moratuwa</a:t>
            </a:r>
          </a:p>
          <a:p>
            <a:r>
              <a:rPr dirty="0">
                <a:solidFill/>
              </a:rPr>
              <a:t>Three cohorts, 2017–2019: 271 total</a:t>
            </a:r>
            <a:r>
              <a:rPr lang="en-GB" dirty="0">
                <a:solidFill/>
              </a:rPr>
              <a:t> students</a:t>
            </a:r>
            <a:endParaRPr dirty="0"/>
          </a:p>
          <a:p>
            <a:pPr lvl="1"/>
            <a:r>
              <a:rPr sz="2200" b="0" dirty="0">
                <a:solidFill/>
              </a:rPr>
              <a:t>178 (2017–2018) → training</a:t>
            </a:r>
            <a:r>
              <a:rPr lang="en-GB" sz="2200" b="0" dirty="0">
                <a:solidFill/>
              </a:rPr>
              <a:t> </a:t>
            </a:r>
            <a:r>
              <a:rPr sz="2200" b="0" dirty="0">
                <a:solidFill/>
              </a:rPr>
              <a:t>set</a:t>
            </a:r>
          </a:p>
          <a:p>
            <a:pPr lvl="1"/>
            <a:r>
              <a:rPr sz="2200" b="0" dirty="0">
                <a:solidFill/>
              </a:rPr>
              <a:t>93 (2019) → held-out external test se</a:t>
            </a:r>
            <a:r>
              <a:rPr lang="en-GB" sz="2200" b="0" dirty="0">
                <a:solidFill/>
              </a:rPr>
              <a:t>t</a:t>
            </a:r>
            <a:endParaRPr sz="2200" b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255513"/>
              </p:ext>
            </p:extLst>
          </p:nvPr>
        </p:nvGraphicFramePr>
        <p:xfrm>
          <a:off x="6492240" y="3090672"/>
          <a:ext cx="4864608" cy="227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en-GB"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Group</a:t>
                      </a:r>
                      <a:endParaRPr sz="2400" b="1" dirty="0">
                        <a:solidFill>
                          <a:srgbClr val="FFFFFF"/>
                        </a:solidFill>
                        <a:latin typeface="Helvetica Light" panose="020B0403020202020204"/>
                      </a:endParaRPr>
                    </a:p>
                  </a:txBody>
                  <a:tcPr marL="36576" marR="36576" marT="18288" marB="18288" anchor="ctr">
                    <a:solidFill>
                      <a:srgbClr val="8E1F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Final</a:t>
                      </a:r>
                      <a:r>
                        <a:rPr lang="en-GB"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 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GPA Threshold</a:t>
                      </a:r>
                    </a:p>
                  </a:txBody>
                  <a:tcPr marL="36576" marR="36576" marT="18288" marB="18288" anchor="ctr">
                    <a:solidFill>
                      <a:srgbClr val="8E1F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n</a:t>
                      </a:r>
                    </a:p>
                  </a:txBody>
                  <a:tcPr marL="36576" marR="36576" marT="18288" marB="18288" anchor="ctr">
                    <a:solidFill>
                      <a:srgbClr val="8E1F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 dirty="0">
                          <a:solidFill>
                            <a:schemeClr val="tx1"/>
                          </a:solidFill>
                          <a:latin typeface="Helvetica Light" panose="020B0403020202020204"/>
                        </a:rPr>
                        <a:t>Underperforming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≤ 2.99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46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 dirty="0">
                          <a:solidFill>
                            <a:schemeClr val="tx1"/>
                          </a:solidFill>
                          <a:latin typeface="Helvetica Light" panose="020B0403020202020204"/>
                        </a:rPr>
                        <a:t>Average</a:t>
                      </a:r>
                    </a:p>
                  </a:txBody>
                  <a:tcPr marL="36576" marR="36576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2.99 – 3.29</a:t>
                      </a:r>
                    </a:p>
                  </a:txBody>
                  <a:tcPr marL="36576" marR="36576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43</a:t>
                      </a:r>
                    </a:p>
                  </a:txBody>
                  <a:tcPr marL="36576" marR="36576" marT="18288" marB="18288" anchor="ctr">
                    <a:solidFill>
                      <a:srgbClr val="F5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 dirty="0">
                          <a:solidFill>
                            <a:schemeClr val="tx1"/>
                          </a:solidFill>
                          <a:latin typeface="Helvetica Light" panose="020B0403020202020204"/>
                        </a:rPr>
                        <a:t>Performing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&gt; 3.29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/>
                          <a:latin typeface="Helvetica Light" panose="020B0403020202020204"/>
                        </a:rPr>
                        <a:t>89</a:t>
                      </a:r>
                    </a:p>
                  </a:txBody>
                  <a:tcPr marL="36576" marR="36576" marT="18288" marB="18288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92240" y="5394960"/>
            <a:ext cx="4864608" cy="7315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 i="1" dirty="0">
                <a:solidFill>
                  <a:srgbClr val="2E2622"/>
                </a:solidFill>
              </a:rPr>
              <a:t>Used for stratification &amp; evaluation </a:t>
            </a:r>
            <a:r>
              <a:rPr sz="2200" b="0" i="1" dirty="0" err="1">
                <a:solidFill>
                  <a:srgbClr val="2E2622"/>
                </a:solidFill>
              </a:rPr>
              <a:t>onl</a:t>
            </a:r>
            <a:r>
              <a:rPr lang="en-GB" sz="2200" i="1" dirty="0">
                <a:solidFill>
                  <a:srgbClr val="2E2622"/>
                </a:solidFill>
              </a:rPr>
              <a:t>y. N</a:t>
            </a:r>
            <a:r>
              <a:rPr sz="2200" b="0" i="1" dirty="0">
                <a:solidFill>
                  <a:srgbClr val="2E2622"/>
                </a:solidFill>
              </a:rPr>
              <a:t>ever a model input</a:t>
            </a:r>
            <a:r>
              <a:rPr sz="1300" b="0" i="1" dirty="0">
                <a:solidFill>
                  <a:srgbClr val="2E2622"/>
                </a:solidFill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4C3B4E-82EC-DEEC-599D-4FDD14F11DDA}"/>
              </a:ext>
            </a:extLst>
          </p:cNvPr>
          <p:cNvSpPr/>
          <p:nvPr/>
        </p:nvSpPr>
        <p:spPr>
          <a:xfrm>
            <a:off x="841248" y="3090672"/>
            <a:ext cx="5468112" cy="475488"/>
          </a:xfrm>
          <a:prstGeom prst="rect">
            <a:avLst/>
          </a:prstGeom>
          <a:solidFill>
            <a:srgbClr val="8E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4A02B3-2ABE-5704-FD23-FEF53642E540}"/>
              </a:ext>
            </a:extLst>
          </p:cNvPr>
          <p:cNvSpPr txBox="1"/>
          <p:nvPr/>
        </p:nvSpPr>
        <p:spPr>
          <a:xfrm>
            <a:off x="949505" y="3127248"/>
            <a:ext cx="5266944" cy="406265"/>
          </a:xfrm>
          <a:prstGeom prst="rect">
            <a:avLst/>
          </a:prstGeom>
          <a:solidFill>
            <a:srgbClr val="8E1F20"/>
          </a:solidFill>
          <a:ln/>
        </p:spPr>
        <p:txBody>
          <a:bodyPr wrap="square" lIns="54864" tIns="18288" rIns="54864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 dirty="0">
                <a:solidFill>
                  <a:srgbClr val="FFFFFF"/>
                </a:solidFill>
                <a:latin typeface="Helvetica Light" panose="020B0403020202020204"/>
              </a:rPr>
              <a:t>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AD842-A898-E96D-7A8D-183B0A8BEED6}"/>
              </a:ext>
            </a:extLst>
          </p:cNvPr>
          <p:cNvSpPr txBox="1"/>
          <p:nvPr/>
        </p:nvSpPr>
        <p:spPr>
          <a:xfrm>
            <a:off x="932688" y="3651208"/>
            <a:ext cx="5376672" cy="804672"/>
          </a:xfrm>
          <a:prstGeom prst="rect">
            <a:avLst/>
          </a:prstGeom>
          <a:noFill/>
          <a:ln/>
        </p:spPr>
        <p:txBody>
          <a:bodyPr wrap="square" lIns="27432" tIns="9144" rIns="18288" bIns="9144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 dirty="0">
                <a:solidFill/>
                <a:latin typeface="Helvetica Light" panose="020B0403020202020204"/>
              </a:rPr>
              <a:t>Pre-academic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 i="0" dirty="0">
                <a:solidFill>
                  <a:srgbClr val="2E2622"/>
                </a:solidFill>
                <a:latin typeface="Helvetica Light" panose="020B0403020202020204"/>
              </a:rPr>
              <a:t>Z-score, English marks, A-level medium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0F86F0-77AD-9683-D257-DDD35FE59D11}"/>
              </a:ext>
            </a:extLst>
          </p:cNvPr>
          <p:cNvSpPr txBox="1"/>
          <p:nvPr/>
        </p:nvSpPr>
        <p:spPr>
          <a:xfrm>
            <a:off x="932688" y="4489409"/>
            <a:ext cx="5376672" cy="777240"/>
          </a:xfrm>
          <a:prstGeom prst="rect">
            <a:avLst/>
          </a:prstGeom>
          <a:noFill/>
          <a:ln/>
        </p:spPr>
        <p:txBody>
          <a:bodyPr wrap="square" lIns="27432" tIns="9144" rIns="18288" bIns="9144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 dirty="0">
                <a:solidFill/>
                <a:latin typeface="Helvetica Light" panose="020B0403020202020204"/>
              </a:rPr>
              <a:t>Demographics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2200" b="0" i="0" dirty="0">
                <a:solidFill>
                  <a:srgbClr val="2E2622"/>
                </a:solidFill>
                <a:latin typeface="Helvetica Light" panose="020B0403020202020204"/>
              </a:rPr>
              <a:t>Gender, department, district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A959C7-FB59-5689-74F6-F578026EA30E}"/>
              </a:ext>
            </a:extLst>
          </p:cNvPr>
          <p:cNvSpPr txBox="1"/>
          <p:nvPr/>
        </p:nvSpPr>
        <p:spPr>
          <a:xfrm>
            <a:off x="932688" y="5374805"/>
            <a:ext cx="5376672" cy="749808"/>
          </a:xfrm>
          <a:prstGeom prst="rect">
            <a:avLst/>
          </a:prstGeom>
          <a:noFill/>
          <a:ln/>
        </p:spPr>
        <p:txBody>
          <a:bodyPr wrap="square" lIns="27432" tIns="9144" rIns="18288" bIns="9144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 dirty="0">
                <a:solidFill/>
                <a:latin typeface="Helvetica Light" panose="020B0403020202020204"/>
              </a:rPr>
              <a:t>Academic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lang="en-GB" sz="2200" dirty="0">
                <a:solidFill>
                  <a:srgbClr val="2E2622"/>
                </a:solidFill>
                <a:latin typeface="Helvetica Light" panose="020B0403020202020204"/>
              </a:rPr>
              <a:t>S</a:t>
            </a:r>
            <a:r>
              <a:rPr sz="2200" b="0" i="0" dirty="0" err="1">
                <a:solidFill>
                  <a:srgbClr val="2E2622"/>
                </a:solidFill>
                <a:latin typeface="Helvetica Light" panose="020B0403020202020204"/>
              </a:rPr>
              <a:t>emester</a:t>
            </a:r>
            <a:r>
              <a:rPr sz="2200" b="0" i="0" dirty="0">
                <a:solidFill>
                  <a:srgbClr val="2E2622"/>
                </a:solidFill>
                <a:latin typeface="Helvetica Light" panose="020B0403020202020204"/>
              </a:rPr>
              <a:t> GPA, S1–S8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32741"/>
            <a:ext cx="5102352" cy="1234440"/>
          </a:xfrm>
          <a:ln/>
        </p:spPr>
        <p:txBody>
          <a:bodyPr>
            <a:noAutofit/>
          </a:bodyPr>
          <a:lstStyle/>
          <a:p>
            <a:pPr algn="just"/>
            <a:r>
              <a:rPr b="0" dirty="0">
                <a:solidFill/>
              </a:rPr>
              <a:t>Near-complete data</a:t>
            </a:r>
            <a:r>
              <a:rPr lang="en-GB" b="0" dirty="0">
                <a:solidFill/>
              </a:rPr>
              <a:t>. </a:t>
            </a:r>
            <a:r>
              <a:rPr b="0" dirty="0">
                <a:solidFill/>
              </a:rPr>
              <a:t>English marks missing (6/178), median-imputed</a:t>
            </a:r>
            <a:r>
              <a:rPr lang="en-GB" b="0" dirty="0">
                <a:solidFill/>
              </a:rPr>
              <a:t>.</a:t>
            </a:r>
            <a:r>
              <a:rPr b="0" dirty="0">
                <a:solidFill/>
              </a:rPr>
              <a:t> </a:t>
            </a:r>
            <a:endParaRPr lang="en-GB" b="0" dirty="0"/>
          </a:p>
          <a:p>
            <a:pPr marL="0" indent="0" algn="just">
              <a:buNone/>
            </a:pPr>
            <a:endParaRPr lang="en-GB" b="0" dirty="0"/>
          </a:p>
          <a:p>
            <a:pPr algn="just"/>
            <a:r>
              <a:rPr b="0" dirty="0">
                <a:solidFill/>
              </a:rPr>
              <a:t>Final</a:t>
            </a:r>
            <a:r>
              <a:rPr lang="en-GB" b="0" dirty="0">
                <a:solidFill/>
              </a:rPr>
              <a:t> </a:t>
            </a:r>
            <a:r>
              <a:rPr b="0" dirty="0">
                <a:solidFill/>
              </a:rPr>
              <a:t>GPA is left-skewed, and the skew deepens by later semesters</a:t>
            </a:r>
            <a:endParaRPr lang="en-GB" b="0" dirty="0"/>
          </a:p>
          <a:p>
            <a:pPr marL="0" indent="0" algn="just">
              <a:buNone/>
            </a:pPr>
            <a:endParaRPr lang="en-GB" b="0" dirty="0"/>
          </a:p>
          <a:p>
            <a:pPr algn="just"/>
            <a:r>
              <a:rPr b="0" dirty="0">
                <a:solidFill/>
              </a:rPr>
              <a:t>Outliers retained deliberately </a:t>
            </a:r>
            <a:r>
              <a:rPr lang="en-GB" dirty="0">
                <a:solidFill/>
              </a:rPr>
              <a:t>as t</a:t>
            </a:r>
            <a:r>
              <a:rPr b="0" dirty="0">
                <a:solidFill/>
              </a:rPr>
              <a:t>hey are the at-risk signal this study is trying to catch, not noise</a:t>
            </a:r>
          </a:p>
        </p:txBody>
      </p:sp>
      <p:pic>
        <p:nvPicPr>
          <p:cNvPr id="5" name="Content Placeholder 6" descr="ICODE_EDA_Summary.png">
            <a:extLst>
              <a:ext uri="{FF2B5EF4-FFF2-40B4-BE49-F238E27FC236}">
                <a16:creationId xmlns:a16="http://schemas.microsoft.com/office/drawing/2014/main" id="{92ECA6B3-88EE-721A-6E72-F9F63D58BD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12" r="50000"/>
          <a:stretch>
            <a:fillRect/>
          </a:stretch>
        </p:blipFill>
        <p:spPr>
          <a:xfrm>
            <a:off x="6248402" y="1632740"/>
            <a:ext cx="5108446" cy="4332346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Methodology — Design &amp; Model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36097"/>
            <a:ext cx="10515600" cy="2143334"/>
          </a:xfrm>
          <a:ln/>
        </p:spPr>
        <p:txBody>
          <a:bodyPr>
            <a:noAutofit/>
          </a:bodyPr>
          <a:lstStyle/>
          <a:p>
            <a:r>
              <a:rPr b="0" dirty="0">
                <a:solidFill/>
              </a:rPr>
              <a:t>Semester checkpoints: S0 (pre-academic only) → S6 — snapshots exist out to S8, but every group's reliability point was already confirmed by S6</a:t>
            </a:r>
            <a:endParaRPr lang="en-GB" b="0" dirty="0"/>
          </a:p>
          <a:p>
            <a:r>
              <a:rPr b="0" dirty="0">
                <a:solidFill/>
              </a:rPr>
              <a:t>Two-stage evaluation:</a:t>
            </a:r>
            <a:br>
              <a:rPr lang="en-GB" b="0" dirty="0"/>
            </a:br>
            <a:r>
              <a:rPr b="0" dirty="0">
                <a:solidFill/>
              </a:rPr>
              <a:t>Stage 1 = 5-fold × 10-repeat stratified CV (50 splits) on 2017–2018</a:t>
            </a:r>
            <a:endParaRPr lang="en-GB" b="0" dirty="0"/>
          </a:p>
          <a:p>
            <a:pPr marL="0" indent="0">
              <a:buNone/>
            </a:pPr>
            <a:r>
              <a:rPr lang="en-GB" b="0" dirty="0">
                <a:solidFill/>
              </a:rPr>
              <a:t>   </a:t>
            </a:r>
            <a:r>
              <a:rPr b="0" dirty="0">
                <a:solidFill/>
              </a:rPr>
              <a:t>Stage 2 = confirm on the untouched 2019 cohort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78064"/>
              </p:ext>
            </p:extLst>
          </p:nvPr>
        </p:nvGraphicFramePr>
        <p:xfrm>
          <a:off x="1126378" y="3749084"/>
          <a:ext cx="10153081" cy="1473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9122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S0</a:t>
                      </a:r>
                    </a:p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Ridge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S0</a:t>
                      </a:r>
                    </a:p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S3</a:t>
                      </a:r>
                    </a:p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Ridge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S3</a:t>
                      </a:r>
                    </a:p>
                    <a:p>
                      <a:pPr algn="ctr"/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S6</a:t>
                      </a:r>
                    </a:p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Ridge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S6</a:t>
                      </a:r>
                    </a:p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54864" marR="54864" marT="18288" marB="18288">
                    <a:solidFill>
                      <a:srgbClr val="7B00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23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/>
                        </a:rPr>
                        <a:t>RMSE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0.346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0.364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0.181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0.182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0.087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0.143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23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/>
                        </a:rPr>
                        <a:t>SD (RMSE)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0.066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0.053</a:t>
                      </a:r>
                    </a:p>
                  </a:txBody>
                  <a:tcPr marL="54864" marR="54864" marT="18288" marB="18288">
                    <a:solidFill>
                      <a:srgbClr val="F5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230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/>
                        </a:rPr>
                        <a:t>|Bias|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0.002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F6B4F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/>
                        </a:rPr>
                        <a:t>0.009</a:t>
                      </a:r>
                    </a:p>
                  </a:txBody>
                  <a:tcPr marL="54864" marR="54864" marT="18288" marB="18288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431536"/>
            <a:ext cx="10515600" cy="8321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300" b="0" i="0" dirty="0">
                <a:solidFill>
                  <a:srgbClr val="2E2622"/>
                </a:solidFill>
                <a:latin typeface="Helvetica Light" panose="020B0403020202020204"/>
                <a:cs typeface="Hadassah Friedlaender" panose="020F0502020204030204" pitchFamily="18" charset="-79"/>
              </a:rPr>
              <a:t>Ridge matches or beats Random Forest on accuracy, stability, and equity at 6 of the 7 checkpoints — the only exception is Semester 1</a:t>
            </a:r>
            <a:r>
              <a:rPr lang="en-GB" sz="2300" dirty="0">
                <a:solidFill>
                  <a:srgbClr val="2E2622"/>
                </a:solidFill>
                <a:latin typeface="Helvetica Light" panose="020B0403020202020204"/>
                <a:cs typeface="Hadassah Friedlaender" panose="020F0502020204030204" pitchFamily="18" charset="-79"/>
              </a:rPr>
              <a:t>. </a:t>
            </a:r>
            <a:endParaRPr sz="2300" b="0" i="0" dirty="0">
              <a:solidFill>
                <a:srgbClr val="2E2622"/>
              </a:solidFill>
              <a:latin typeface="Helvetica Light" panose="020B0403020202020204"/>
              <a:cs typeface="Hadassah Friedlaender" panose="020F0502020204030204" pitchFamily="18" charset="-79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Rule"/>
          <p:cNvSpPr/>
          <p:nvPr/>
        </p:nvSpPr>
        <p:spPr>
          <a:xfrm>
            <a:off x="841248" y="111576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Methodology</a:t>
            </a:r>
            <a:r>
              <a:rPr lang="en-GB" dirty="0">
                <a:solidFill/>
              </a:rPr>
              <a:t> </a:t>
            </a:r>
            <a:r>
              <a:rPr dirty="0">
                <a:solidFill/>
              </a:rPr>
              <a:t>— The Three-Criterion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316736"/>
            <a:ext cx="3383279" cy="3922776"/>
          </a:xfrm>
          <a:prstGeom prst="roundRect">
            <a:avLst>
              <a:gd name="adj" fmla="val 16667"/>
            </a:avLst>
          </a:prstGeom>
          <a:solidFill>
            <a:srgbClr val="FBF7F1"/>
          </a:solidFill>
          <a:ln w="19050">
            <a:solidFill>
              <a:srgbClr val="E0C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91440" rtlCol="0" anchor="t" anchorCtr="0">
            <a:normAutofit fontScale="92500"/>
          </a:bodyPr>
          <a:lstStyle/>
          <a:p>
            <a:pPr algn="ctr"/>
            <a:r>
              <a:rPr sz="2600" b="1" dirty="0">
                <a:solidFill>
                  <a:srgbClr val="7B0019"/>
                </a:solidFill>
                <a:latin typeface="Helvetica Light" panose="020B0403020202020204"/>
              </a:rPr>
              <a:t>1. Accuracy (RMSE)</a:t>
            </a:r>
            <a:endParaRPr lang="en-GB" sz="2600" b="1" dirty="0">
              <a:solidFill>
                <a:srgbClr val="7B0019"/>
              </a:solidFill>
              <a:latin typeface="Helvetica Light" panose="020B0403020202020204"/>
            </a:endParaRPr>
          </a:p>
          <a:p>
            <a:pPr algn="ctr"/>
            <a:endParaRPr lang="en-GB" sz="1400" b="1" i="0" dirty="0">
              <a:solidFill>
                <a:srgbClr val="2E2622"/>
              </a:solidFill>
            </a:endParaRPr>
          </a:p>
          <a:p>
            <a:pPr marL="342900" indent="-34290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nb-NO" sz="2200" b="0" i="0" dirty="0">
                <a:solidFill>
                  <a:srgbClr val="2E2622"/>
                </a:solidFill>
                <a:latin typeface="Helvetica Light" panose="020B0403020202020204"/>
              </a:rPr>
              <a:t>≤ 0.25 GPA (Performing / Average)</a:t>
            </a:r>
          </a:p>
          <a:p>
            <a:pPr marL="342900" indent="-34290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nb-NO" sz="2200" b="0" i="0" dirty="0">
                <a:solidFill>
                  <a:srgbClr val="2E2622"/>
                </a:solidFill>
                <a:latin typeface="Helvetica Light" panose="020B0403020202020204"/>
              </a:rPr>
              <a:t>≤ 0.35 GPA (Underperforming)</a:t>
            </a:r>
          </a:p>
          <a:p>
            <a:pPr algn="l">
              <a:spcBef>
                <a:spcPts val="800"/>
              </a:spcBef>
            </a:pP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0.25 ≈ half a meaningful grade band</a:t>
            </a:r>
            <a:r>
              <a:rPr lang="en-GB" sz="2200" b="0" dirty="0">
                <a:solidFill>
                  <a:srgbClr val="2E2622"/>
                </a:solidFill>
                <a:latin typeface="Helvetica Light" panose="020B0403020202020204"/>
              </a:rPr>
              <a:t> (0.5)</a:t>
            </a: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 on this 4-point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316736"/>
            <a:ext cx="3383279" cy="3922776"/>
          </a:xfrm>
          <a:prstGeom prst="roundRect">
            <a:avLst/>
          </a:prstGeom>
          <a:solidFill>
            <a:srgbClr val="FBF7F1"/>
          </a:solidFill>
          <a:ln w="19050">
            <a:solidFill>
              <a:srgbClr val="E0C79B">
                <a:alpha val="8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91440" rtlCol="0" anchor="t" anchorCtr="0">
            <a:normAutofit/>
          </a:bodyPr>
          <a:lstStyle/>
          <a:p>
            <a:pPr algn="ctr"/>
            <a:r>
              <a:rPr sz="2400" b="1" dirty="0">
                <a:solidFill>
                  <a:srgbClr val="7B0019"/>
                </a:solidFill>
                <a:latin typeface="Helvetica Light" panose="020B0403020202020204"/>
              </a:rPr>
              <a:t>2. Stability (SD of RMSE)</a:t>
            </a:r>
            <a:endParaRPr sz="1400" b="1" i="0" dirty="0">
              <a:solidFill>
                <a:srgbClr val="2E2622"/>
              </a:solidFill>
            </a:endParaRPr>
          </a:p>
          <a:p>
            <a:pPr marL="342900" indent="-34290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200" b="0" i="0" dirty="0">
                <a:solidFill>
                  <a:srgbClr val="2E2622"/>
                </a:solidFill>
                <a:latin typeface="Helvetica Light" panose="020B0403020202020204"/>
              </a:rPr>
              <a:t>Must show a declining trend </a:t>
            </a:r>
            <a:endParaRPr sz="1400" b="1" i="0" dirty="0">
              <a:solidFill>
                <a:srgbClr val="2E2622"/>
              </a:solidFill>
            </a:endParaRPr>
          </a:p>
          <a:p>
            <a:pPr algn="l">
              <a:spcBef>
                <a:spcPts val="800"/>
              </a:spcBef>
            </a:pP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Catches models that look accurate on average but are fragile </a:t>
            </a:r>
            <a:r>
              <a:rPr lang="en-GB" sz="2200" b="0" dirty="0">
                <a:solidFill>
                  <a:srgbClr val="2E2622"/>
                </a:solidFill>
                <a:latin typeface="Helvetica Light" panose="020B0403020202020204"/>
              </a:rPr>
              <a:t>to </a:t>
            </a: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which students land in which fold.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73568" y="1316736"/>
            <a:ext cx="3383279" cy="3922776"/>
          </a:xfrm>
          <a:prstGeom prst="roundRect">
            <a:avLst/>
          </a:prstGeom>
          <a:solidFill>
            <a:srgbClr val="FBF7F1"/>
          </a:solidFill>
          <a:ln w="19050">
            <a:solidFill>
              <a:srgbClr val="E0C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91440" rtlCol="0" anchor="t" anchorCtr="0">
            <a:normAutofit/>
          </a:bodyPr>
          <a:lstStyle/>
          <a:p>
            <a:pPr algn="ctr"/>
            <a:r>
              <a:rPr sz="2400" b="1" dirty="0">
                <a:solidFill>
                  <a:srgbClr val="7B0019"/>
                </a:solidFill>
                <a:latin typeface="Helvetica Light" panose="020B0403020202020204"/>
              </a:rPr>
              <a:t>3. Equity (Group Bias)</a:t>
            </a:r>
          </a:p>
          <a:p>
            <a:pPr marL="342900" indent="-34290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sz="2200" b="0" i="0" dirty="0">
                <a:solidFill>
                  <a:srgbClr val="2E2622"/>
                </a:solidFill>
                <a:latin typeface="Helvetica Light" panose="020B0403020202020204"/>
              </a:rPr>
              <a:t>|mean bias| ≤ 0.10 </a:t>
            </a: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GPA points</a:t>
            </a:r>
            <a:endParaRPr sz="1400" b="1" dirty="0">
              <a:solidFill>
                <a:srgbClr val="2E2622"/>
              </a:solidFill>
            </a:endParaRPr>
          </a:p>
          <a:p>
            <a:pPr algn="l">
              <a:spcBef>
                <a:spcPts val="800"/>
              </a:spcBef>
            </a:pP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Caps systematic over/under-prediction</a:t>
            </a:r>
            <a:r>
              <a:rPr lang="en-GB" sz="2200" dirty="0">
                <a:solidFill>
                  <a:srgbClr val="2E2622"/>
                </a:solidFill>
                <a:latin typeface="Helvetica Light" panose="020B0403020202020204"/>
              </a:rPr>
              <a:t> t</a:t>
            </a:r>
            <a:r>
              <a:rPr lang="en-GB" sz="2200" b="0" dirty="0">
                <a:solidFill>
                  <a:srgbClr val="2E2622"/>
                </a:solidFill>
                <a:latin typeface="Helvetica Light" panose="020B0403020202020204"/>
              </a:rPr>
              <a:t>o </a:t>
            </a: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40% of the RMSE through directional error.</a:t>
            </a:r>
            <a:endParaRPr lang="en-GB" sz="2200" b="0" dirty="0">
              <a:solidFill>
                <a:srgbClr val="2E2622"/>
              </a:solidFill>
              <a:latin typeface="Helvetica Light" panose="020B0403020202020204"/>
            </a:endParaRPr>
          </a:p>
          <a:p>
            <a:pPr algn="l">
              <a:spcBef>
                <a:spcPts val="800"/>
              </a:spcBef>
            </a:pPr>
            <a:endParaRPr sz="1300" b="0" i="1" dirty="0">
              <a:solidFill>
                <a:srgbClr val="2E2622"/>
              </a:solidFill>
            </a:endParaRPr>
          </a:p>
        </p:txBody>
      </p:sp>
      <p:sp>
        <p:nvSpPr>
          <p:cNvPr id="13" name="Rounded Rectangle 7">
            <a:extLst>
              <a:ext uri="{FF2B5EF4-FFF2-40B4-BE49-F238E27FC236}">
                <a16:creationId xmlns:a16="http://schemas.microsoft.com/office/drawing/2014/main" id="{47379FB7-0C7F-DCA3-BDAF-C7FEBBC9B7B4}"/>
              </a:ext>
            </a:extLst>
          </p:cNvPr>
          <p:cNvSpPr/>
          <p:nvPr/>
        </p:nvSpPr>
        <p:spPr>
          <a:xfrm>
            <a:off x="841248" y="5513832"/>
            <a:ext cx="10515600" cy="658368"/>
          </a:xfrm>
          <a:prstGeom prst="roundRect">
            <a:avLst/>
          </a:prstGeom>
          <a:solidFill>
            <a:srgbClr val="F5EADA"/>
          </a:solidFill>
          <a:ln w="9525">
            <a:solidFill>
              <a:srgbClr val="E0C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>
            <a:normAutofit fontScale="92500" lnSpcReduction="20000"/>
          </a:bodyPr>
          <a:lstStyle/>
          <a:p>
            <a:pPr algn="ctr"/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These thresholds are grounded in this 4-point GPA scale</a:t>
            </a:r>
            <a:r>
              <a:rPr lang="en-GB" sz="2200" b="0" dirty="0">
                <a:solidFill>
                  <a:srgbClr val="2E2622"/>
                </a:solidFill>
                <a:latin typeface="Helvetica Light" panose="020B0403020202020204"/>
              </a:rPr>
              <a:t>. </a:t>
            </a:r>
            <a:r>
              <a:rPr sz="2200" b="0" dirty="0">
                <a:solidFill>
                  <a:srgbClr val="2E2622"/>
                </a:solidFill>
                <a:latin typeface="Helvetica Light" panose="020B0403020202020204"/>
              </a:rPr>
              <a:t>What transfers to other institutions is the three-criterion structure, not these exact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Rule"/>
          <p:cNvSpPr/>
          <p:nvPr/>
        </p:nvSpPr>
        <p:spPr>
          <a:xfrm>
            <a:off x="841248" y="1115768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>
            <a:normAutofit fontScale="90000"/>
          </a:bodyPr>
          <a:lstStyle/>
          <a:p>
            <a:r>
              <a:rPr dirty="0">
                <a:solidFill/>
              </a:rPr>
              <a:t>Results I — Convergence of the Three Criteria (Cross-Validation)</a:t>
            </a:r>
          </a:p>
        </p:txBody>
      </p:sp>
      <p:pic>
        <p:nvPicPr>
          <p:cNvPr id="4" name="Picture 3" descr="ICODE_Convergence_3Panel.png"/>
          <p:cNvPicPr>
            <a:picLocks noChangeAspect="1"/>
          </p:cNvPicPr>
          <p:nvPr/>
        </p:nvPicPr>
        <p:blipFill>
          <a:blip r:embed="rId2"/>
          <a:srcRect b="906"/>
          <a:stretch>
            <a:fillRect/>
          </a:stretch>
        </p:blipFill>
        <p:spPr>
          <a:xfrm>
            <a:off x="841248" y="1307690"/>
            <a:ext cx="5254752" cy="5044195"/>
          </a:xfrm>
          <a:prstGeom prst="rect">
            <a:avLst/>
          </a:prstGeom>
          <a:ln/>
        </p:spPr>
      </p:pic>
      <p:sp>
        <p:nvSpPr>
          <p:cNvPr id="5" name="TextBox 4"/>
          <p:cNvSpPr txBox="1"/>
          <p:nvPr/>
        </p:nvSpPr>
        <p:spPr>
          <a:xfrm>
            <a:off x="6479458" y="1407488"/>
            <a:ext cx="4877389" cy="45140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 dirty="0">
                <a:solidFill/>
                <a:latin typeface="Helvetica Light" panose="020B0403020202020204"/>
              </a:rPr>
              <a:t>Performing &amp; Average clear all three bars earliest in cross-validation.</a:t>
            </a:r>
          </a:p>
          <a:p>
            <a:pPr>
              <a:spcAft>
                <a:spcPts val="1400"/>
              </a:spcAft>
            </a:pPr>
            <a:r>
              <a:rPr sz="2400" b="0" i="0" dirty="0">
                <a:solidFill/>
                <a:latin typeface="Helvetica Light" panose="020B0403020202020204"/>
              </a:rPr>
              <a:t>Underperforming's SD(RMSE) stays elevated and non-monotonic through Semesters 3–4 — the binding constraint, reflecting real prediction difficulty for this smaller group (n=46).</a:t>
            </a:r>
          </a:p>
          <a:p>
            <a:pPr>
              <a:spcAft>
                <a:spcPts val="600"/>
              </a:spcAft>
            </a:pPr>
            <a:r>
              <a:rPr lang="en-GB" sz="2400" b="1" dirty="0">
                <a:solidFill/>
                <a:latin typeface="Helvetica Light" panose="020B0403020202020204"/>
              </a:rPr>
              <a:t>A</a:t>
            </a:r>
            <a:r>
              <a:rPr sz="2400" b="1" i="0" dirty="0" err="1">
                <a:solidFill/>
                <a:latin typeface="Helvetica Light" panose="020B0403020202020204"/>
              </a:rPr>
              <a:t>ccuracy</a:t>
            </a:r>
            <a:r>
              <a:rPr sz="2400" b="1" i="0" dirty="0">
                <a:solidFill/>
                <a:latin typeface="Helvetica Light" panose="020B0403020202020204"/>
              </a:rPr>
              <a:t> is </a:t>
            </a:r>
            <a:r>
              <a:rPr lang="en-GB" sz="2400" b="1" i="0" dirty="0">
                <a:solidFill/>
                <a:latin typeface="Helvetica Light" panose="020B0403020202020204"/>
              </a:rPr>
              <a:t>not</a:t>
            </a:r>
            <a:r>
              <a:rPr sz="2400" b="1" i="0" dirty="0">
                <a:solidFill/>
                <a:latin typeface="Helvetica Light" panose="020B0403020202020204"/>
              </a:rPr>
              <a:t> the group-defining bottleneck; stability and bias 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87F40-5D10-EC4F-4208-72DB1250461C}"/>
              </a:ext>
            </a:extLst>
          </p:cNvPr>
          <p:cNvSpPr>
            <a:spLocks noGrp="1"/>
          </p:cNvSpPr>
          <p:nvPr>
            <p:ph type="title"/>
          </p:nvPr>
        </p:nvSpPr>
        <p:spPr>
          <a:ln/>
        </p:spPr>
        <p:txBody>
          <a:bodyPr>
            <a:normAutofit/>
          </a:bodyPr>
          <a:lstStyle/>
          <a:p>
            <a:r>
              <a:rPr lang="en-GB" dirty="0">
                <a:solidFill/>
              </a:rPr>
              <a:t>Results I — Overall Model Accuray Measure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BBEF-3C19-67D2-4557-7A659E3F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fld id="{858B1FD3-4AEA-41A5-943D-86B4B96C521D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0727EE-4515-4A1E-13AF-1CD32506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/>
          <a:p>
            <a:fld id="{863210D4-8309-FA4E-999D-6938C4C3C70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" name="Picture 9" descr="ICODE_Pooled_Convergence_3Panel.png"/>
          <p:cNvPicPr>
            <a:picLocks noChangeAspect="1"/>
          </p:cNvPicPr>
          <p:nvPr/>
        </p:nvPicPr>
        <p:blipFill>
          <a:blip r:embed="rId2"/>
          <a:srcRect l="2064" t="2971" r="1160" b="67523"/>
          <a:stretch>
            <a:fillRect/>
          </a:stretch>
        </p:blipFill>
        <p:spPr>
          <a:xfrm>
            <a:off x="835152" y="1681316"/>
            <a:ext cx="6194322" cy="4224676"/>
          </a:xfrm>
          <a:prstGeom prst="rect">
            <a:avLst/>
          </a:prstGeom>
          <a:ln/>
        </p:spPr>
      </p:pic>
      <p:sp>
        <p:nvSpPr>
          <p:cNvPr id="11" name="TextBox 10"/>
          <p:cNvSpPr txBox="1"/>
          <p:nvPr/>
        </p:nvSpPr>
        <p:spPr>
          <a:xfrm>
            <a:off x="7482348" y="1649365"/>
            <a:ext cx="3755923" cy="35958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 i="0" dirty="0">
                <a:solidFill/>
                <a:latin typeface="Helvetica Light" panose="020B0403020202020204"/>
              </a:rPr>
              <a:t>Pooled</a:t>
            </a:r>
            <a:r>
              <a:rPr lang="en-GB" sz="2400" b="0" i="0" dirty="0">
                <a:solidFill/>
                <a:latin typeface="Helvetica Light" panose="020B0403020202020204"/>
              </a:rPr>
              <a:t> RMSE </a:t>
            </a:r>
            <a:r>
              <a:rPr sz="2400" b="0" i="0" dirty="0">
                <a:solidFill/>
                <a:latin typeface="Helvetica Light" panose="020B0403020202020204"/>
              </a:rPr>
              <a:t>results look reassuring </a:t>
            </a:r>
            <a:r>
              <a:rPr lang="en-GB" sz="2400" b="0" i="0" dirty="0">
                <a:solidFill/>
                <a:latin typeface="Helvetica Light" panose="020B0403020202020204"/>
              </a:rPr>
              <a:t>from an early stage. </a:t>
            </a:r>
            <a:r>
              <a:rPr sz="2400" b="0" i="0" dirty="0">
                <a:solidFill/>
                <a:latin typeface="Helvetica Light" panose="020B0403020202020204"/>
              </a:rPr>
              <a:t>RMSE clears the 0.25 threshold by Semester </a:t>
            </a:r>
            <a:r>
              <a:rPr lang="en-GB" sz="2400" b="0" i="0" dirty="0">
                <a:solidFill/>
                <a:latin typeface="Helvetica Light" panose="020B0403020202020204"/>
              </a:rPr>
              <a:t>1-</a:t>
            </a:r>
            <a:r>
              <a:rPr lang="en-GB" sz="2400" dirty="0">
                <a:solidFill/>
                <a:latin typeface="Helvetica Light" panose="020B0403020202020204"/>
              </a:rPr>
              <a:t>2. </a:t>
            </a:r>
          </a:p>
          <a:p>
            <a:pPr>
              <a:spcAft>
                <a:spcPts val="1400"/>
              </a:spcAft>
            </a:pPr>
            <a:r>
              <a:rPr sz="2400" b="1" i="0" dirty="0">
                <a:solidFill/>
                <a:latin typeface="Helvetica Light" panose="020B0403020202020204"/>
              </a:rPr>
              <a:t>Reading only this chart, </a:t>
            </a:r>
            <a:br>
              <a:rPr lang="en-GB" sz="2400" b="1" dirty="0">
                <a:latin typeface="Helvetica Light" panose="020B0403020202020204"/>
              </a:rPr>
            </a:br>
            <a:r>
              <a:rPr sz="2400" b="1" i="0" dirty="0">
                <a:solidFill/>
                <a:latin typeface="Helvetica Light" panose="020B0403020202020204"/>
              </a:rPr>
              <a:t>you'd conclude prediction</a:t>
            </a:r>
            <a:br>
              <a:rPr lang="en-GB" sz="2400" b="1" i="0" dirty="0">
                <a:latin typeface="Helvetica Light" panose="020B0403020202020204"/>
              </a:rPr>
            </a:br>
            <a:r>
              <a:rPr sz="2400" b="1" i="0" dirty="0">
                <a:solidFill/>
                <a:latin typeface="Helvetica Light" panose="020B0403020202020204"/>
              </a:rPr>
              <a:t>is reliable </a:t>
            </a:r>
            <a:r>
              <a:rPr lang="en-GB" sz="2400" b="1" dirty="0">
                <a:solidFill/>
                <a:latin typeface="Helvetica Light" panose="020B0403020202020204"/>
              </a:rPr>
              <a:t>at a very early stage</a:t>
            </a:r>
            <a:r>
              <a:rPr sz="2400" b="1" i="0" dirty="0">
                <a:solidFill/>
                <a:latin typeface="Helvetica Light" panose="020B0403020202020204"/>
              </a:rPr>
              <a:t> for everyone.</a:t>
            </a:r>
          </a:p>
        </p:txBody>
      </p:sp>
    </p:spTree>
    <p:extLst>
      <p:ext uri="{BB962C8B-B14F-4D97-AF65-F5344CB8AC3E}">
        <p14:creationId xmlns:p14="http://schemas.microsoft.com/office/powerpoint/2010/main" val="260288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Rule"/>
          <p:cNvSpPr/>
          <p:nvPr/>
        </p:nvSpPr>
        <p:spPr>
          <a:xfrm>
            <a:off x="870744" y="1211580"/>
            <a:ext cx="10486103" cy="54864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Results II — External Validation (2019 Test Set)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372312"/>
              </p:ext>
            </p:extLst>
          </p:nvPr>
        </p:nvGraphicFramePr>
        <p:xfrm>
          <a:off x="870744" y="1613088"/>
          <a:ext cx="1050950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2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22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7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22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77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Sem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HP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RMSE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HP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Bias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Avg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RMSE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Avg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Bias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UP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RMSE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UP</a:t>
                      </a:r>
                    </a:p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Helvetica Light" panose="020B0403020202020204"/>
                        </a:rPr>
                        <a:t>Bias</a:t>
                      </a:r>
                    </a:p>
                  </a:txBody>
                  <a:tcPr marL="54864" marR="54864" marT="18288" marB="18288" anchor="ctr">
                    <a:solidFill>
                      <a:srgbClr val="7B00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7B0019"/>
                          </a:solidFill>
                          <a:latin typeface="Helvetica Light" panose="020B0403020202020204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0.208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-0.152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0.378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-0.321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-0.480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7B0019"/>
                          </a:solidFill>
                          <a:latin typeface="Helvetica Light" panose="020B0403020202020204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0.142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-0.087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0.228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-0.149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0.426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-0.302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7B0019"/>
                          </a:solidFill>
                          <a:latin typeface="Helvetica Light" panose="020B0403020202020204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0.091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/>
                          <a:latin typeface="Helvetica Light" panose="020B0403020202020204"/>
                        </a:rPr>
                        <a:t>-0.017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0.144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-0.072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0.305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-0.202</a:t>
                      </a:r>
                    </a:p>
                  </a:txBody>
                  <a:tcPr marL="54864" marR="54864" marT="18288" marB="18288" anchor="ctr">
                    <a:solidFill>
                      <a:srgbClr val="FB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7B0019"/>
                          </a:solidFill>
                          <a:latin typeface="Helvetica Light" panose="020B0403020202020204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/>
                          <a:latin typeface="Helvetica Light" panose="020B0403020202020204"/>
                        </a:rPr>
                        <a:t>0.072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/>
                          <a:latin typeface="Helvetica Light" panose="020B0403020202020204"/>
                        </a:rPr>
                        <a:t>0.048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0.094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dirty="0">
                          <a:solidFill/>
                          <a:latin typeface="Helvetica Light" panose="020B0403020202020204"/>
                        </a:rPr>
                        <a:t>0.041</a:t>
                      </a:r>
                    </a:p>
                  </a:txBody>
                  <a:tcPr marL="54864" marR="54864" marT="18288" marB="18288" anchor="ctr">
                    <a:solidFill>
                      <a:srgbClr val="F5E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0.163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/>
                          <a:latin typeface="Helvetica Light" panose="020B0403020202020204"/>
                        </a:rPr>
                        <a:t>-0.035</a:t>
                      </a:r>
                    </a:p>
                  </a:txBody>
                  <a:tcPr marL="54864" marR="54864" marT="18288" marB="18288" anchor="ctr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1584" y="4204772"/>
            <a:ext cx="10515600" cy="7315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1" dirty="0">
                <a:solidFill>
                  <a:srgbClr val="6E6259"/>
                </a:solidFill>
                <a:latin typeface="Helvetica Light" panose="020B0403020202020204"/>
              </a:rPr>
              <a:t>HP = High-performing   Avg = Average   UP = Underperforming   highlighted = confirmed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17804"/>
            <a:ext cx="10515600" cy="1327357"/>
          </a:xfrm>
          <a:prstGeom prst="rect">
            <a:avLst/>
          </a:prstGeom>
          <a:noFill/>
          <a:ln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2400" b="0" i="0" dirty="0">
                <a:solidFill/>
                <a:latin typeface="Helvetica Light" panose="020B0403020202020204"/>
              </a:rPr>
              <a:t>Bias exceedance at the CV candidate semester pushes the confirmed point one semester later for High-performing and Average.</a:t>
            </a:r>
          </a:p>
          <a:p>
            <a:pPr>
              <a:spcAft>
                <a:spcPts val="600"/>
              </a:spcAft>
            </a:pPr>
            <a:r>
              <a:rPr sz="2400" b="0" i="0" dirty="0">
                <a:solidFill/>
                <a:latin typeface="Helvetica Light" panose="020B0403020202020204"/>
              </a:rPr>
              <a:t>CV and external evidence agree</a:t>
            </a:r>
            <a:r>
              <a:rPr lang="en-GB" sz="2400" b="0" i="0" dirty="0">
                <a:solidFill/>
                <a:latin typeface="Helvetica Light" panose="020B0403020202020204"/>
              </a:rPr>
              <a:t> for underperformers.</a:t>
            </a:r>
            <a:endParaRPr sz="2400" b="0" i="0" dirty="0">
              <a:latin typeface="Helvetica Light" panose="020B0403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506632"/>
            <a:ext cx="10515600" cy="4965192"/>
          </a:xfrm>
          <a:ln/>
        </p:spPr>
        <p:txBody>
          <a:bodyPr>
            <a:noAutofit/>
          </a:bodyPr>
          <a:lstStyle/>
          <a:p>
            <a:r>
              <a:rPr b="0" dirty="0">
                <a:solidFill/>
              </a:rPr>
              <a:t>Accuracy alone is an insufficient deployment criterion</a:t>
            </a:r>
            <a:r>
              <a:rPr lang="en-GB" b="0" dirty="0">
                <a:solidFill/>
              </a:rPr>
              <a:t>.</a:t>
            </a:r>
            <a:br>
              <a:rPr lang="en-GB" dirty="0"/>
            </a:br>
            <a:endParaRPr b="0" dirty="0"/>
          </a:p>
          <a:p>
            <a:r>
              <a:rPr b="0" dirty="0">
                <a:solidFill/>
              </a:rPr>
              <a:t>Reliable timing is group-dependent</a:t>
            </a:r>
            <a:r>
              <a:rPr lang="en-GB" b="0" dirty="0">
                <a:solidFill/>
              </a:rPr>
              <a:t>. </a:t>
            </a:r>
            <a:r>
              <a:rPr lang="en-GB" dirty="0">
                <a:solidFill/>
              </a:rPr>
              <a:t>A</a:t>
            </a:r>
            <a:r>
              <a:rPr b="0" dirty="0">
                <a:solidFill/>
              </a:rPr>
              <a:t> single university-wide semester is not justified by the data.</a:t>
            </a:r>
            <a:br>
              <a:rPr lang="en-GB" b="0" dirty="0"/>
            </a:br>
            <a:endParaRPr b="0" dirty="0"/>
          </a:p>
          <a:p>
            <a:r>
              <a:rPr b="1" dirty="0">
                <a:solidFill/>
              </a:rPr>
              <a:t>What this means for advising systems:</a:t>
            </a:r>
          </a:p>
          <a:p>
            <a:pPr lvl="1"/>
            <a:r>
              <a:rPr lang="en-GB" sz="2400" dirty="0"/>
              <a:t>A bias-corrected prediction (raw estimate + tier correction) can be generated automatically at early stages in the advising systems. </a:t>
            </a:r>
            <a:br>
              <a:rPr lang="en-GB" sz="2400" dirty="0"/>
            </a:br>
            <a:endParaRPr lang="en-GB" sz="2400" dirty="0"/>
          </a:p>
          <a:p>
            <a:pPr lvl="1"/>
            <a:r>
              <a:rPr lang="en-GB" sz="2400" dirty="0"/>
              <a:t>For Underperforming-tier students before Semester 5, this bias-corrected estimate, flagged as less-than-full-confidence, can still be built into advising systems as an early support signal.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Rule"/>
          <p:cNvSpPr/>
          <p:nvPr/>
        </p:nvSpPr>
        <p:spPr>
          <a:xfrm>
            <a:off x="841248" y="1243584"/>
            <a:ext cx="10515600" cy="22860"/>
          </a:xfrm>
          <a:prstGeom prst="rect">
            <a:avLst/>
          </a:prstGeom>
          <a:solidFill>
            <a:srgbClr val="D89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/>
        </p:spPr>
        <p:txBody>
          <a:bodyPr/>
          <a:lstStyle/>
          <a:p>
            <a:r>
              <a:rPr dirty="0">
                <a:solidFill/>
              </a:rPr>
              <a:t>Limitations</a:t>
            </a:r>
            <a:r>
              <a:rPr lang="en-GB" dirty="0">
                <a:solidFill/>
              </a:rPr>
              <a:t> &amp; Future Directions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52408"/>
            <a:ext cx="10515600" cy="4004826"/>
          </a:xfrm>
          <a:ln/>
        </p:spPr>
        <p:txBody>
          <a:bodyPr>
            <a:noAutofit/>
          </a:bodyPr>
          <a:lstStyle/>
          <a:p>
            <a:r>
              <a:rPr b="1" dirty="0">
                <a:solidFill/>
              </a:rPr>
              <a:t>Contribution: </a:t>
            </a:r>
            <a:r>
              <a:rPr b="0" dirty="0">
                <a:solidFill/>
              </a:rPr>
              <a:t>a reusable, equity-aware three-criterion framework</a:t>
            </a:r>
            <a:r>
              <a:rPr lang="en-GB" b="0" dirty="0">
                <a:solidFill/>
              </a:rPr>
              <a:t>.</a:t>
            </a:r>
            <a:br>
              <a:rPr lang="en-GB" b="0" dirty="0">
                <a:solidFill/>
              </a:rPr>
            </a:br>
            <a:endParaRPr b="0" dirty="0"/>
          </a:p>
          <a:p>
            <a:r>
              <a:rPr b="1" dirty="0">
                <a:solidFill/>
              </a:rPr>
              <a:t>Limitation</a:t>
            </a:r>
            <a:r>
              <a:rPr lang="en-GB" b="1" dirty="0">
                <a:solidFill/>
              </a:rPr>
              <a:t>s:</a:t>
            </a:r>
            <a:r>
              <a:rPr lang="en-GB" b="0" dirty="0">
                <a:solidFill/>
              </a:rPr>
              <a:t> </a:t>
            </a:r>
          </a:p>
          <a:p>
            <a:pPr lvl="1"/>
            <a:r>
              <a:rPr sz="2200" b="0" dirty="0">
                <a:solidFill/>
              </a:rPr>
              <a:t>small sample, especially </a:t>
            </a:r>
            <a:r>
              <a:rPr lang="en-GB" sz="2200" b="0" dirty="0">
                <a:solidFill/>
              </a:rPr>
              <a:t>from</a:t>
            </a:r>
            <a:r>
              <a:rPr sz="2200" b="0" dirty="0">
                <a:solidFill/>
              </a:rPr>
              <a:t>177 overall</a:t>
            </a:r>
            <a:r>
              <a:rPr lang="en-GB" sz="2200" dirty="0">
                <a:solidFill/>
              </a:rPr>
              <a:t> </a:t>
            </a:r>
            <a:r>
              <a:rPr sz="2200" b="0" dirty="0">
                <a:solidFill/>
              </a:rPr>
              <a:t>only 46 Underperforming students</a:t>
            </a:r>
            <a:r>
              <a:rPr lang="en-GB" sz="2200" b="0" dirty="0">
                <a:solidFill/>
              </a:rPr>
              <a:t>, </a:t>
            </a:r>
            <a:r>
              <a:rPr sz="2200" b="0" dirty="0">
                <a:solidFill/>
              </a:rPr>
              <a:t>~9 per CV fold, likely driving that group's noisy stability trend.</a:t>
            </a:r>
            <a:br>
              <a:rPr lang="en-GB" sz="2200" b="0" dirty="0">
                <a:solidFill/>
              </a:rPr>
            </a:br>
            <a:endParaRPr sz="2200" b="0" dirty="0">
              <a:solidFill/>
            </a:endParaRPr>
          </a:p>
          <a:p>
            <a:pPr lvl="1"/>
            <a:r>
              <a:rPr sz="2200" b="0" dirty="0">
                <a:solidFill/>
              </a:rPr>
              <a:t>Findings from </a:t>
            </a:r>
            <a:r>
              <a:rPr lang="en-GB" sz="2200" b="0" dirty="0">
                <a:solidFill/>
              </a:rPr>
              <a:t>this study needs to be </a:t>
            </a:r>
            <a:r>
              <a:rPr sz="2200" b="0" dirty="0">
                <a:solidFill/>
              </a:rPr>
              <a:t>validated on a larger sample</a:t>
            </a:r>
            <a:r>
              <a:rPr b="0" dirty="0">
                <a:solidFill/>
              </a:rPr>
              <a:t>.</a:t>
            </a:r>
            <a:br>
              <a:rPr lang="en-GB" b="0" dirty="0">
                <a:solidFill/>
              </a:rPr>
            </a:br>
            <a:endParaRPr b="0" dirty="0">
              <a:solidFill/>
            </a:endParaRPr>
          </a:p>
          <a:p>
            <a:r>
              <a:rPr lang="en-GB" b="1" dirty="0">
                <a:solidFill/>
              </a:rPr>
              <a:t>Future direction: </a:t>
            </a:r>
            <a:r>
              <a:rPr lang="en-GB" dirty="0">
                <a:solidFill/>
              </a:rPr>
              <a:t>adds module-level grades + SHAP to find early explanatory warning signals (Sem 0–2); independent of the numeric prediction's own reliability.</a:t>
            </a:r>
          </a:p>
          <a:p>
            <a:endParaRPr lang="en-GB" sz="1800" dirty="0"/>
          </a:p>
          <a:p>
            <a:endParaRPr sz="1800" b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1A926-1169-9624-491B-7194F47A9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fld id="{369C01DE-ACE6-410C-A367-B03B5EAE8009}" type="datetime1">
              <a:rPr lang="en-US" smtClean="0"/>
              <a:t>8/2/2026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A65A1-14CD-5290-6306-74B3982D6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/>
          <a:p>
            <a:fld id="{863210D4-8309-FA4E-999D-6938C4C3C70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95D91-9F95-CAA4-40A6-78B35A8D30D6}"/>
              </a:ext>
            </a:extLst>
          </p:cNvPr>
          <p:cNvSpPr txBox="1"/>
          <p:nvPr/>
        </p:nvSpPr>
        <p:spPr>
          <a:xfrm>
            <a:off x="3060700" y="2367171"/>
            <a:ext cx="6121400" cy="212365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6600" i="1" noProof="0" dirty="0">
                <a:solidFill/>
                <a:latin typeface="PT Serif" panose="020A0603040505020204" pitchFamily="18" charset="77"/>
              </a:rPr>
              <a:t>Thank you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397564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4719</TotalTime>
  <Words>1034</Words>
  <Application>Microsoft Office PowerPoint</Application>
  <PresentationFormat>Widescreen</PresentationFormat>
  <Paragraphs>187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Batang</vt:lpstr>
      <vt:lpstr>Arial</vt:lpstr>
      <vt:lpstr>Calibri</vt:lpstr>
      <vt:lpstr>Calibri Light</vt:lpstr>
      <vt:lpstr>Helvetica Light</vt:lpstr>
      <vt:lpstr>PT Serif</vt:lpstr>
      <vt:lpstr>Office Theme</vt:lpstr>
      <vt:lpstr>A Group-Stratified Reliability Framework for Trustworthy Early-GPA Prediction in Higher Education</vt:lpstr>
      <vt:lpstr>The Problem: Why Accuracy Alone Isn't Enough</vt:lpstr>
      <vt:lpstr>Research Question &amp; the Gap in the Literature</vt:lpstr>
      <vt:lpstr>Data used in the research</vt:lpstr>
      <vt:lpstr>Exploratory Data Analysis</vt:lpstr>
      <vt:lpstr>Methodology — Design &amp; Model Selection</vt:lpstr>
      <vt:lpstr>Methodology — The Three-Criterion Framework</vt:lpstr>
      <vt:lpstr>Results I — Convergence of the Three Criteria (Cross-Validation)</vt:lpstr>
      <vt:lpstr>Results I — Overall Model Accuray Measure</vt:lpstr>
      <vt:lpstr>Results II — External Validation (2019 Test Set)</vt:lpstr>
      <vt:lpstr>Discussion</vt:lpstr>
      <vt:lpstr>Limitations &amp; Future Directions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Janithapriya Buddhika K. PATHIRAGE DON</dc:creator>
  <cp:lastModifiedBy>Andrew Lesley Vinushly</cp:lastModifiedBy>
  <cp:revision>46</cp:revision>
  <dcterms:created xsi:type="dcterms:W3CDTF">2023-10-19T00:48:35Z</dcterms:created>
  <dcterms:modified xsi:type="dcterms:W3CDTF">2026-08-02T15:30:02Z</dcterms:modified>
</cp:coreProperties>
</file>