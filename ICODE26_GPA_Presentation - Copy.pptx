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E_0.xml" ContentType="application/vnd.ms-powerpoint.comments+xml"/>
  <Override PartName="/ppt/comments/modernComment_10F_0.xml" ContentType="application/vnd.ms-powerpoint.comments+xml"/>
  <Override PartName="/ppt/comments/modernComment_113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68" r:id="rId4"/>
    <p:sldId id="269" r:id="rId5"/>
    <p:sldId id="270" r:id="rId6"/>
    <p:sldId id="271" r:id="rId7"/>
    <p:sldId id="272" r:id="rId8"/>
    <p:sldId id="273" r:id="rId9"/>
    <p:sldId id="279" r:id="rId10"/>
    <p:sldId id="274" r:id="rId11"/>
    <p:sldId id="275" r:id="rId12"/>
    <p:sldId id="27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75947C-FF8E-C4C1-15FD-86BC4D5FC07E}" name="Andrew Lesley Vinushly" initials="AV" userId="S::w1912912@westminster.ac.uk::95c084b7-6497-4f5a-a5fe-89c388c069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355"/>
    <a:srgbClr val="B9996B"/>
    <a:srgbClr val="D8963D"/>
    <a:srgbClr val="BE7C26"/>
    <a:srgbClr val="E9EBF5"/>
    <a:srgbClr val="CFD5EA"/>
    <a:srgbClr val="1F4E79"/>
    <a:srgbClr val="776612"/>
    <a:srgbClr val="FDDB89"/>
    <a:srgbClr val="FCEC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2"/>
    <p:restoredTop sz="94976" autoAdjust="0"/>
  </p:normalViewPr>
  <p:slideViewPr>
    <p:cSldViewPr snapToGrid="0">
      <p:cViewPr>
        <p:scale>
          <a:sx n="75" d="100"/>
          <a:sy n="75" d="100"/>
        </p:scale>
        <p:origin x="1099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7628AF-3912-47E6-BFAD-A48850FA565D}" authorId="{4075947C-FF8E-C4C1-15FD-86BC4D5FC07E}" created="2026-08-02T08:46:14.6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0"/>
      <ac:spMk id="3" creationId="{00000000-0000-0000-0000-000000000000}"/>
      <ac:txMk cp="135" len="19">
        <ac:context len="259" hash="3393094884"/>
      </ac:txMk>
    </ac:txMkLst>
    <p188:pos x="2571271" y="1671398"/>
    <p188:txBody>
      <a:bodyPr/>
      <a:lstStyle/>
      <a:p>
        <a:r>
          <a:rPr lang="en-GB"/>
          <a:t>Is upper tail or lower tail correct here?</a:t>
        </a:r>
      </a:p>
    </p188:txBody>
  </p188:cm>
</p188:cmLst>
</file>

<file path=ppt/comments/modernComment_1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EED1F0-3AAD-4FC5-AF1B-192D110D11F3}" authorId="{4075947C-FF8E-C4C1-15FD-86BC4D5FC07E}" created="2026-08-02T08:52:02.94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1"/>
      <ac:graphicFrameMk id="4" creationId="{00000000-0000-0000-0000-000000000000}"/>
    </ac:deMkLst>
    <p188:txBody>
      <a:bodyPr/>
      <a:lstStyle/>
      <a:p>
        <a:r>
          <a:rPr lang="en-GB"/>
          <a:t>Check this table data. Not clear</a:t>
        </a:r>
      </a:p>
    </p188:txBody>
  </p188:cm>
</p188:cmLst>
</file>

<file path=ppt/comments/modernComment_11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749001-23FF-4A55-917B-0861E9650D7E}" authorId="{4075947C-FF8E-C4C1-15FD-86BC4D5FC07E}" created="2026-08-02T09:41:50.51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5"/>
      <ac:spMk id="3" creationId="{00000000-0000-0000-0000-000000000000}"/>
      <ac:txMk cp="278" len="105">
        <ac:context len="561" hash="1922374067"/>
      </ac:txMk>
    </ac:txMkLst>
    <p188:pos x="10436258" y="2823795"/>
    <p188:txBody>
      <a:bodyPr/>
      <a:lstStyle/>
      <a:p>
        <a:r>
          <a:rPr lang="en-GB"/>
          <a:t>Need to make this more senseful since we wont know the student group in the bginning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0D744-E84F-6343-A86E-B978A19DD84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8C1E9-10D7-BC49-9440-411BDAEE25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08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6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A4AEA7-C69E-EC95-FA96-07651E7F961E}"/>
              </a:ext>
            </a:extLst>
          </p:cNvPr>
          <p:cNvSpPr/>
          <p:nvPr userDrawn="1"/>
        </p:nvSpPr>
        <p:spPr>
          <a:xfrm>
            <a:off x="0" y="5873610"/>
            <a:ext cx="12192000" cy="984390"/>
          </a:xfrm>
          <a:prstGeom prst="rect">
            <a:avLst/>
          </a:prstGeom>
          <a:solidFill>
            <a:srgbClr val="BE7C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23CD2-D686-F273-ACE8-AC6A5193C3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3032" y="3601484"/>
            <a:ext cx="10420768" cy="1488697"/>
          </a:xfrm>
        </p:spPr>
        <p:txBody>
          <a:bodyPr anchor="b"/>
          <a:lstStyle>
            <a:lvl1pPr algn="l">
              <a:defRPr sz="28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907D2-0D25-00D2-327C-3DF761F69F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3032" y="5195330"/>
            <a:ext cx="10420768" cy="47847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A7B7-97FF-9CD1-FD2F-BCF95653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602" y="6470650"/>
            <a:ext cx="885024" cy="365125"/>
          </a:xfrm>
        </p:spPr>
        <p:txBody>
          <a:bodyPr/>
          <a:lstStyle/>
          <a:p>
            <a:fld id="{2CA05847-19ED-4347-AEF2-B952E6249A27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DF7C-F842-163C-A5D7-8DC89EC5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logo of university of moratuna&#10;&#10;Description automatically generated">
            <a:extLst>
              <a:ext uri="{FF2B5EF4-FFF2-40B4-BE49-F238E27FC236}">
                <a16:creationId xmlns:a16="http://schemas.microsoft.com/office/drawing/2014/main" id="{10FCD895-49D4-2C2B-0DDA-EB174522DF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810152"/>
            <a:ext cx="993179" cy="1047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5BC98-C9BE-F182-327E-BA1B46C3C367}"/>
              </a:ext>
            </a:extLst>
          </p:cNvPr>
          <p:cNvSpPr txBox="1"/>
          <p:nvPr userDrawn="1"/>
        </p:nvSpPr>
        <p:spPr>
          <a:xfrm>
            <a:off x="5062822" y="6078801"/>
            <a:ext cx="349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1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Distance Learning</a:t>
            </a:r>
            <a:endParaRPr lang="en-US" sz="16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38F87-AB65-252B-4161-C4F3025B79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2189" b="28622"/>
          <a:stretch>
            <a:fillRect/>
          </a:stretch>
        </p:blipFill>
        <p:spPr>
          <a:xfrm>
            <a:off x="0" y="0"/>
            <a:ext cx="12192000" cy="3174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CC698-00FA-02AC-2EC8-E03C42F083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8490" y="6097902"/>
            <a:ext cx="555310" cy="555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8C88C4-B11C-9D28-79DC-BE2A7143E42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92998" y="6089239"/>
            <a:ext cx="547928" cy="5479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CDFCA1-516B-CA9E-9106-61501DE8953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376" y="6146958"/>
            <a:ext cx="3949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8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6725CB-DD15-E2D5-8817-D451B2847E89}"/>
              </a:ext>
            </a:extLst>
          </p:cNvPr>
          <p:cNvSpPr/>
          <p:nvPr userDrawn="1"/>
        </p:nvSpPr>
        <p:spPr>
          <a:xfrm>
            <a:off x="0" y="6386513"/>
            <a:ext cx="12247233" cy="471487"/>
          </a:xfrm>
          <a:prstGeom prst="rect">
            <a:avLst/>
          </a:prstGeom>
          <a:solidFill>
            <a:srgbClr val="D89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97062-BBA5-C8F4-B8C5-FC4B9E6AC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773" y="6467507"/>
            <a:ext cx="333792" cy="333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66E85E-58C5-3FDA-6529-8BC9EE028F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2337" y="6478912"/>
            <a:ext cx="329714" cy="329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B0DD7-EFDB-94C9-A0F9-DFF7316946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428" y="6464962"/>
            <a:ext cx="337679" cy="337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678ECB-9A15-B439-AF83-8F512B9DD0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52765" y="6467688"/>
            <a:ext cx="2848362" cy="32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6F693-A763-0D6D-D42F-7AAE7F4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</p:spPr>
        <p:txBody>
          <a:bodyPr>
            <a:normAutofit/>
          </a:bodyPr>
          <a:lstStyle>
            <a:lvl1pPr>
              <a:defRPr sz="32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FEBE-C4E2-45C5-F282-8D45A264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718"/>
            <a:ext cx="10515600" cy="4881245"/>
          </a:xfrm>
        </p:spPr>
        <p:txBody>
          <a:bodyPr/>
          <a:lstStyle>
            <a:lvl1pPr>
              <a:defRPr sz="2400" b="0" i="0">
                <a:latin typeface="Helvetica Light" panose="020B0403020202020204" pitchFamily="34" charset="0"/>
              </a:defRPr>
            </a:lvl1pPr>
            <a:lvl2pPr>
              <a:defRPr sz="2000" b="0" i="0">
                <a:latin typeface="Helvetica Light" panose="020B0403020202020204" pitchFamily="34" charset="0"/>
              </a:defRPr>
            </a:lvl2pPr>
            <a:lvl3pPr>
              <a:defRPr sz="1600" b="0" i="0">
                <a:latin typeface="Helvetica Light" panose="020B0403020202020204" pitchFamily="34" charset="0"/>
              </a:defRPr>
            </a:lvl3pPr>
            <a:lvl4pPr>
              <a:defRPr sz="1400" b="0" i="0">
                <a:latin typeface="Helvetica Light" panose="020B0403020202020204" pitchFamily="34" charset="0"/>
              </a:defRPr>
            </a:lvl4pPr>
            <a:lvl5pPr>
              <a:defRPr sz="12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35BE-12FB-ABC9-1582-FEA1C5A9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F0D1-18D2-E00A-1709-989FADF3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BF95-FD3F-9D31-E0D8-D1B7C1BE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19E0-AD3E-C694-05D7-9C8811DCBB6C}"/>
              </a:ext>
            </a:extLst>
          </p:cNvPr>
          <p:cNvSpPr txBox="1"/>
          <p:nvPr userDrawn="1"/>
        </p:nvSpPr>
        <p:spPr>
          <a:xfrm>
            <a:off x="4346425" y="6456645"/>
            <a:ext cx="349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 Distance Learning</a:t>
            </a:r>
            <a:endParaRPr lang="en-US" sz="10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2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B7258-7DF7-6F12-F6A4-FA86F20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92C8-15D6-5420-8CC6-1FE77A02D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9B64-BBDE-4ED8-6931-53EFBEE50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BE1F675-7703-4C18-A059-3C6B370B5644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9463-8263-DA6C-1CA8-766FCBB6B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67D-10E4-C059-B683-7A8710201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0E_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F_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3_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3855B9-DB2C-F27C-5B9D-47B749731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032" y="3460955"/>
            <a:ext cx="10420768" cy="1147446"/>
          </a:xfrm>
        </p:spPr>
        <p:txBody>
          <a:bodyPr/>
          <a:lstStyle/>
          <a:p>
            <a:r>
              <a:rPr dirty="0"/>
              <a:t>A Group-Stratified Reliability Framework for Trustworthy Early-GPA Prediction in Higher Education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E15B6C6-B1A2-75CE-4997-9076D5766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032" y="4777793"/>
            <a:ext cx="10420768" cy="478472"/>
          </a:xfrm>
        </p:spPr>
        <p:txBody>
          <a:bodyPr>
            <a:noAutofit/>
          </a:bodyPr>
          <a:lstStyle/>
          <a:p>
            <a:r>
              <a:rPr dirty="0"/>
              <a:t>Sayuri Witharana  |  Tiloka de Silva</a:t>
            </a:r>
          </a:p>
          <a:p>
            <a:r>
              <a:rPr dirty="0"/>
              <a:t>Faculty of Business Science, University of Moratuwa</a:t>
            </a:r>
          </a:p>
          <a:p>
            <a:r>
              <a:rPr dirty="0"/>
              <a:t>ICODE 2026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532A-0E1B-B62C-36B8-F727E515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4077-899A-4B14-AB6E-0313F990C7DA}" type="datetime1">
              <a:rPr lang="en-US" smtClean="0"/>
              <a:t>8/2/2026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5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D428C3-C6C5-C588-F0A8-8EC4D0B8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Problem: Why Accuracy Alone Isn't Enough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D189A8-9DF0-4A7D-5611-C7570DD55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A2E35"/>
                </a:solidFill>
                <a:latin typeface="Helvetica Light" panose="020B0403020202020204"/>
                <a:ea typeface="Calibri" pitchFamily="34" charset="-122"/>
                <a:cs typeface="Calibri" pitchFamily="34" charset="-120"/>
              </a:rPr>
              <a:t>Universities increasingly use GPA prediction to guide academic advising and student intervention.</a:t>
            </a:r>
          </a:p>
          <a:p>
            <a:pPr marL="0" indent="0">
              <a:buNone/>
            </a:pPr>
            <a:endParaRPr lang="en-US" dirty="0">
              <a:latin typeface="Helvetica Light" panose="020B0403020202020204"/>
            </a:endParaRPr>
          </a:p>
          <a:p>
            <a:r>
              <a:rPr b="0" dirty="0"/>
              <a:t>Today's evaluation asks only “is it accurate?” — hiding a real inequity: a model can look fine overall while failing the students who need help most.</a:t>
            </a:r>
            <a:endParaRPr lang="en-GB" b="0" dirty="0"/>
          </a:p>
          <a:p>
            <a:pPr marL="0" indent="0">
              <a:buNone/>
            </a:pPr>
            <a:endParaRPr b="0" dirty="0"/>
          </a:p>
          <a:p>
            <a:r>
              <a:rPr b="1" dirty="0"/>
              <a:t>Three questions accuracy alone can't answer:</a:t>
            </a:r>
          </a:p>
          <a:p>
            <a:pPr lvl="1"/>
            <a:r>
              <a:rPr sz="2400" b="0" dirty="0"/>
              <a:t>When does a prediction become stable enough to act on?</a:t>
            </a:r>
          </a:p>
          <a:p>
            <a:pPr lvl="1"/>
            <a:r>
              <a:rPr sz="2400" b="0" dirty="0"/>
              <a:t>Does reliability emerge equally across performance groups?</a:t>
            </a:r>
          </a:p>
          <a:p>
            <a:pPr lvl="1"/>
            <a:r>
              <a:rPr sz="2400" b="0" dirty="0"/>
              <a:t>Do early predictions systematically overpredict at-risk students?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3696D-E439-FAD9-193F-773219E8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E16CE-D55E-7594-4432-6B8D8E7A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7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Question &amp; the Gap in the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8343"/>
            <a:ext cx="10515600" cy="1200329"/>
          </a:xfrm>
          <a:prstGeom prst="rect">
            <a:avLst/>
          </a:prstGeom>
          <a:solidFill>
            <a:srgbClr val="DDA355"/>
          </a:solidFill>
        </p:spPr>
        <p:txBody>
          <a:bodyPr wrap="square" lIns="182880" rIns="18288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 dirty="0">
                <a:solidFill>
                  <a:srgbClr val="FFFFFF"/>
                </a:solidFill>
                <a:latin typeface="Helvetica Light" panose="020B0403020202020204"/>
              </a:rPr>
              <a:t>RQ:  What is the earliest semester a student's final GPA can be forecast</a:t>
            </a:r>
            <a:r>
              <a:rPr lang="en-GB" sz="2400" b="1" i="0" dirty="0">
                <a:solidFill>
                  <a:srgbClr val="FFFFFF"/>
                </a:solidFill>
                <a:latin typeface="Helvetica Light" panose="020B0403020202020204"/>
              </a:rPr>
              <a:t>ed</a:t>
            </a:r>
            <a:r>
              <a:rPr sz="2400" b="1" i="0" dirty="0">
                <a:solidFill>
                  <a:srgbClr val="FFFFFF"/>
                </a:solidFill>
                <a:latin typeface="Helvetica Light" panose="020B0403020202020204"/>
              </a:rPr>
              <a:t> reliably across performance groups, accounting for prediction stability and error asymmetry</a:t>
            </a:r>
            <a:r>
              <a:rPr lang="en-GB" sz="2400" b="1" i="0" dirty="0">
                <a:solidFill>
                  <a:srgbClr val="FFFFFF"/>
                </a:solidFill>
                <a:latin typeface="Helvetica Light" panose="020B0403020202020204"/>
              </a:rPr>
              <a:t> among student groups</a:t>
            </a:r>
            <a:r>
              <a:rPr sz="2400" b="1" i="0" dirty="0">
                <a:solidFill>
                  <a:srgbClr val="FFFFFF"/>
                </a:solidFill>
                <a:latin typeface="Helvetica Light" panose="020B0403020202020204"/>
              </a:rPr>
              <a:t>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727875"/>
              </p:ext>
            </p:extLst>
          </p:nvPr>
        </p:nvGraphicFramePr>
        <p:xfrm>
          <a:off x="841248" y="2579922"/>
          <a:ext cx="10512552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4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478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What It Shows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Critical Gap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212-study systematic review</a:t>
                      </a:r>
                    </a:p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(Gunasekara &amp; Saarela, 2025) [6]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Explainability-focused EDM literature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Only 3.3% report stability; 5.6% report fairness metrics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24-study GPA prediction survey</a:t>
                      </a:r>
                    </a:p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(</a:t>
                      </a:r>
                      <a:r>
                        <a:rPr sz="2000" b="0" dirty="0" err="1">
                          <a:latin typeface="Helvetica Light" panose="020B0403020202020204"/>
                        </a:rPr>
                        <a:t>Alturki</a:t>
                      </a:r>
                      <a:r>
                        <a:rPr sz="2000" b="0" dirty="0">
                          <a:latin typeface="Helvetica Light" panose="020B0403020202020204"/>
                        </a:rPr>
                        <a:t> et al., 2020) [5]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75% frame outcomes as pass/fail or degree class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Continuous error magnitude &amp; group-level bias rarely quantified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latin typeface="Helvetica Light" panose="020B0403020202020204"/>
                        </a:rPr>
                        <a:t>Comparative GPA model study</a:t>
                      </a:r>
                    </a:p>
                    <a:p>
                      <a:pPr algn="l"/>
                      <a:r>
                        <a:rPr sz="2000" b="0">
                          <a:latin typeface="Helvetica Light" panose="020B0403020202020204"/>
                        </a:rPr>
                        <a:t>(Putpuek et al., 2018) [7]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latin typeface="Helvetica Light" panose="020B0403020202020204"/>
                        </a:rPr>
                        <a:t>Very high recall for good students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Near-zero recall for poor students — error asymmetry ignored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14D5BA-D27F-7CA8-7C82-68008887A32C}"/>
              </a:ext>
            </a:extLst>
          </p:cNvPr>
          <p:cNvSpPr/>
          <p:nvPr/>
        </p:nvSpPr>
        <p:spPr>
          <a:xfrm>
            <a:off x="838201" y="3088296"/>
            <a:ext cx="5257799" cy="3057861"/>
          </a:xfrm>
          <a:prstGeom prst="rect">
            <a:avLst/>
          </a:prstGeom>
          <a:solidFill>
            <a:srgbClr val="CFD5EA"/>
          </a:solidFill>
          <a:ln w="9525">
            <a:solidFill>
              <a:srgbClr val="E0C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6F36E8-06E0-D0D5-D208-4FA36ADF7843}"/>
              </a:ext>
            </a:extLst>
          </p:cNvPr>
          <p:cNvSpPr/>
          <p:nvPr/>
        </p:nvSpPr>
        <p:spPr>
          <a:xfrm>
            <a:off x="838201" y="4464751"/>
            <a:ext cx="5257800" cy="821640"/>
          </a:xfrm>
          <a:prstGeom prst="rect">
            <a:avLst/>
          </a:prstGeom>
          <a:solidFill>
            <a:srgbClr val="E9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</a:t>
            </a:r>
            <a:r>
              <a:rPr lang="en-GB" dirty="0"/>
              <a:t> used in the research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291305"/>
            <a:ext cx="10512552" cy="1611792"/>
          </a:xfrm>
        </p:spPr>
        <p:txBody>
          <a:bodyPr>
            <a:noAutofit/>
          </a:bodyPr>
          <a:lstStyle/>
          <a:p>
            <a:r>
              <a:rPr dirty="0"/>
              <a:t>Source: Faculty of Business Science, University of Moratuwa</a:t>
            </a:r>
          </a:p>
          <a:p>
            <a:r>
              <a:rPr dirty="0"/>
              <a:t>Three cohorts, 2017–2019: 271 total</a:t>
            </a:r>
            <a:r>
              <a:rPr lang="en-GB" dirty="0"/>
              <a:t> students</a:t>
            </a:r>
            <a:endParaRPr dirty="0"/>
          </a:p>
          <a:p>
            <a:pPr lvl="1"/>
            <a:r>
              <a:rPr sz="2200" b="0" dirty="0"/>
              <a:t>178 (2017–2018) → training</a:t>
            </a:r>
            <a:r>
              <a:rPr lang="en-GB" sz="2200" b="0" dirty="0"/>
              <a:t> </a:t>
            </a:r>
            <a:r>
              <a:rPr sz="2200" b="0" dirty="0"/>
              <a:t>set</a:t>
            </a:r>
          </a:p>
          <a:p>
            <a:pPr lvl="1"/>
            <a:r>
              <a:rPr sz="2200" b="0" dirty="0"/>
              <a:t>93 (2019) → held-out external test se</a:t>
            </a:r>
            <a:r>
              <a:rPr lang="en-GB" sz="2200" b="0" dirty="0"/>
              <a:t>t</a:t>
            </a:r>
            <a:endParaRPr sz="2200" b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313989"/>
              </p:ext>
            </p:extLst>
          </p:nvPr>
        </p:nvGraphicFramePr>
        <p:xfrm>
          <a:off x="6491475" y="3094363"/>
          <a:ext cx="4847086" cy="2363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Group</a:t>
                      </a:r>
                      <a:endParaRPr sz="2400" b="1" dirty="0">
                        <a:solidFill>
                          <a:srgbClr val="FFFFFF"/>
                        </a:solidFill>
                        <a:latin typeface="Helvetica Light" panose="020B0403020202020204"/>
                      </a:endParaRP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Final</a:t>
                      </a:r>
                      <a:r>
                        <a:rPr lang="en-GB"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GPA Threshold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n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2200" b="1" dirty="0">
                          <a:solidFill>
                            <a:schemeClr val="tx1"/>
                          </a:solidFill>
                          <a:latin typeface="Helvetica Light" panose="020B0403020202020204"/>
                        </a:rPr>
                        <a:t>Underperforming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≤ 2.99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46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2200" b="1" dirty="0">
                          <a:solidFill>
                            <a:schemeClr val="tx1"/>
                          </a:solidFill>
                          <a:latin typeface="Helvetica Light" panose="020B0403020202020204"/>
                        </a:rPr>
                        <a:t>Average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2.99 – 3.29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43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2200" b="1" dirty="0">
                          <a:solidFill>
                            <a:schemeClr val="tx1"/>
                          </a:solidFill>
                          <a:latin typeface="Helvetica Light" panose="020B0403020202020204"/>
                        </a:rPr>
                        <a:t>Performing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&gt; 3.29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89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1475" y="5471965"/>
            <a:ext cx="48470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1" dirty="0">
                <a:solidFill>
                  <a:srgbClr val="262626"/>
                </a:solidFill>
              </a:rPr>
              <a:t>Used for stratification &amp; evaluation </a:t>
            </a:r>
            <a:r>
              <a:rPr sz="2200" b="0" i="1" dirty="0" err="1">
                <a:solidFill>
                  <a:srgbClr val="262626"/>
                </a:solidFill>
              </a:rPr>
              <a:t>onl</a:t>
            </a:r>
            <a:r>
              <a:rPr lang="en-GB" sz="2200" i="1" dirty="0">
                <a:solidFill>
                  <a:srgbClr val="262626"/>
                </a:solidFill>
              </a:rPr>
              <a:t>y. N</a:t>
            </a:r>
            <a:r>
              <a:rPr sz="2200" b="0" i="1" dirty="0">
                <a:solidFill>
                  <a:srgbClr val="262626"/>
                </a:solidFill>
              </a:rPr>
              <a:t>ever a model input</a:t>
            </a:r>
            <a:r>
              <a:rPr sz="1300" b="0" i="1" dirty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C3B4E-82EC-DEEC-599D-4FDD14F11DDA}"/>
              </a:ext>
            </a:extLst>
          </p:cNvPr>
          <p:cNvSpPr/>
          <p:nvPr/>
        </p:nvSpPr>
        <p:spPr>
          <a:xfrm>
            <a:off x="838201" y="3088296"/>
            <a:ext cx="5257799" cy="47721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A02B3-2ABE-5704-FD23-FEF53642E540}"/>
              </a:ext>
            </a:extLst>
          </p:cNvPr>
          <p:cNvSpPr txBox="1"/>
          <p:nvPr/>
        </p:nvSpPr>
        <p:spPr>
          <a:xfrm>
            <a:off x="949505" y="3128018"/>
            <a:ext cx="5146495" cy="40626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solidFill>
                  <a:srgbClr val="FFFFFF"/>
                </a:solidFill>
                <a:latin typeface="Helvetica Light" panose="020B0403020202020204"/>
              </a:rPr>
              <a:t>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AD842-A898-E96D-7A8D-183B0A8BEED6}"/>
              </a:ext>
            </a:extLst>
          </p:cNvPr>
          <p:cNvSpPr txBox="1"/>
          <p:nvPr/>
        </p:nvSpPr>
        <p:spPr>
          <a:xfrm>
            <a:off x="963415" y="3636661"/>
            <a:ext cx="5402845" cy="77046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latin typeface="Helvetica Light" panose="020B0403020202020204"/>
              </a:rPr>
              <a:t>Pre-academic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 i="0" dirty="0">
                <a:solidFill>
                  <a:srgbClr val="2E2622"/>
                </a:solidFill>
                <a:latin typeface="Helvetica Light" panose="020B0403020202020204"/>
              </a:rPr>
              <a:t>Z-score, English marks, A-level medium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F86F0-77AD-9683-D257-DDD35FE59D11}"/>
              </a:ext>
            </a:extLst>
          </p:cNvPr>
          <p:cNvSpPr txBox="1"/>
          <p:nvPr/>
        </p:nvSpPr>
        <p:spPr>
          <a:xfrm>
            <a:off x="963415" y="4515923"/>
            <a:ext cx="5132585" cy="77046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latin typeface="Helvetica Light" panose="020B0403020202020204"/>
              </a:rPr>
              <a:t>Demographics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 i="0" dirty="0">
                <a:solidFill>
                  <a:srgbClr val="2E2622"/>
                </a:solidFill>
                <a:latin typeface="Helvetica Light" panose="020B0403020202020204"/>
              </a:rPr>
              <a:t>Gender, department, district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A959C7-FB59-5689-74F6-F578026EA30E}"/>
              </a:ext>
            </a:extLst>
          </p:cNvPr>
          <p:cNvSpPr txBox="1"/>
          <p:nvPr/>
        </p:nvSpPr>
        <p:spPr>
          <a:xfrm>
            <a:off x="963415" y="5364704"/>
            <a:ext cx="5402845" cy="77046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latin typeface="Helvetica Light" panose="020B0403020202020204"/>
              </a:rPr>
              <a:t>Academic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lang="en-GB" sz="2200" dirty="0">
                <a:solidFill>
                  <a:srgbClr val="2E2622"/>
                </a:solidFill>
                <a:latin typeface="Helvetica Light" panose="020B0403020202020204"/>
              </a:rPr>
              <a:t>S</a:t>
            </a:r>
            <a:r>
              <a:rPr sz="2200" b="0" i="0" dirty="0" err="1">
                <a:solidFill>
                  <a:srgbClr val="2E2622"/>
                </a:solidFill>
                <a:latin typeface="Helvetica Light" panose="020B0403020202020204"/>
              </a:rPr>
              <a:t>emester</a:t>
            </a:r>
            <a:r>
              <a:rPr sz="2200" b="0" i="0" dirty="0">
                <a:solidFill>
                  <a:srgbClr val="2E2622"/>
                </a:solidFill>
                <a:latin typeface="Helvetica Light" panose="020B0403020202020204"/>
              </a:rPr>
              <a:t> GPA, S1–S8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52" y="1333173"/>
            <a:ext cx="5206935" cy="1234440"/>
          </a:xfrm>
        </p:spPr>
        <p:txBody>
          <a:bodyPr>
            <a:noAutofit/>
          </a:bodyPr>
          <a:lstStyle/>
          <a:p>
            <a:pPr algn="just"/>
            <a:r>
              <a:rPr b="0" dirty="0"/>
              <a:t>Near-complete data</a:t>
            </a:r>
            <a:r>
              <a:rPr lang="en-GB" b="0" dirty="0"/>
              <a:t>. </a:t>
            </a:r>
            <a:r>
              <a:rPr b="0" dirty="0"/>
              <a:t>English marks missing (6/178), median-imputed</a:t>
            </a:r>
            <a:r>
              <a:rPr lang="en-GB" b="0" dirty="0"/>
              <a:t>.</a:t>
            </a:r>
            <a:r>
              <a:rPr b="0" dirty="0"/>
              <a:t> </a:t>
            </a:r>
            <a:endParaRPr lang="en-GB" b="0" dirty="0"/>
          </a:p>
          <a:p>
            <a:pPr marL="0" indent="0" algn="just">
              <a:buNone/>
            </a:pPr>
            <a:endParaRPr lang="en-GB" b="0" dirty="0"/>
          </a:p>
          <a:p>
            <a:pPr algn="just"/>
            <a:r>
              <a:rPr b="0" dirty="0"/>
              <a:t>Final</a:t>
            </a:r>
            <a:r>
              <a:rPr lang="en-GB" b="0" dirty="0"/>
              <a:t> </a:t>
            </a:r>
            <a:r>
              <a:rPr b="0" dirty="0"/>
              <a:t>GPA is left-skewed, and the skew deepens by later semesters </a:t>
            </a:r>
            <a:r>
              <a:rPr lang="en-GB" b="0" dirty="0"/>
              <a:t>with a upper tail. </a:t>
            </a:r>
          </a:p>
          <a:p>
            <a:pPr marL="0" indent="0" algn="just">
              <a:buNone/>
            </a:pPr>
            <a:endParaRPr lang="en-GB" b="0" dirty="0"/>
          </a:p>
          <a:p>
            <a:pPr algn="just"/>
            <a:r>
              <a:rPr b="0" dirty="0"/>
              <a:t>Outliers retained deliberately </a:t>
            </a:r>
            <a:r>
              <a:rPr lang="en-GB" dirty="0"/>
              <a:t>as t</a:t>
            </a:r>
            <a:r>
              <a:rPr b="0" dirty="0"/>
              <a:t>hey are the at-risk signal this study is trying to catch, not noise</a:t>
            </a:r>
          </a:p>
        </p:txBody>
      </p:sp>
      <p:pic>
        <p:nvPicPr>
          <p:cNvPr id="5" name="Content Placeholder 6" descr="ICODE_EDA_Summary.png">
            <a:extLst>
              <a:ext uri="{FF2B5EF4-FFF2-40B4-BE49-F238E27FC236}">
                <a16:creationId xmlns:a16="http://schemas.microsoft.com/office/drawing/2014/main" id="{92ECA6B3-88EE-721A-6E72-F9F63D58BD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6358147" y="1212710"/>
            <a:ext cx="5029200" cy="457199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— Design &amp;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349248"/>
            <a:ext cx="10515600" cy="1691640"/>
          </a:xfrm>
        </p:spPr>
        <p:txBody>
          <a:bodyPr>
            <a:noAutofit/>
          </a:bodyPr>
          <a:lstStyle/>
          <a:p>
            <a:r>
              <a:rPr b="0" dirty="0"/>
              <a:t>Semester checkpoints</a:t>
            </a:r>
            <a:r>
              <a:rPr lang="en-GB" dirty="0"/>
              <a:t>:</a:t>
            </a:r>
            <a:r>
              <a:rPr b="0" dirty="0"/>
              <a:t> S0 (pre-academic only) → S</a:t>
            </a:r>
            <a:r>
              <a:rPr lang="en-GB" b="0" dirty="0"/>
              <a:t>8</a:t>
            </a:r>
            <a:r>
              <a:rPr b="0" dirty="0"/>
              <a:t> </a:t>
            </a:r>
            <a:endParaRPr lang="en-GB" b="0" dirty="0"/>
          </a:p>
          <a:p>
            <a:r>
              <a:rPr b="0" dirty="0"/>
              <a:t>Two-stage evaluation:</a:t>
            </a:r>
            <a:br>
              <a:rPr lang="en-GB" b="0" dirty="0"/>
            </a:br>
            <a:r>
              <a:rPr b="0" dirty="0"/>
              <a:t>Stage 1 = 5-fold × 10-repeat stratified CV (50 splits) on 2017–2018</a:t>
            </a:r>
            <a:endParaRPr lang="en-GB" b="0" dirty="0"/>
          </a:p>
          <a:p>
            <a:pPr marL="0" indent="0">
              <a:buNone/>
            </a:pPr>
            <a:r>
              <a:rPr lang="en-GB" b="0" dirty="0"/>
              <a:t>   </a:t>
            </a:r>
            <a:r>
              <a:rPr b="0" dirty="0"/>
              <a:t>Stage 2 = confirm on the untouched 2019 cohort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48225"/>
              </p:ext>
            </p:extLst>
          </p:nvPr>
        </p:nvGraphicFramePr>
        <p:xfrm>
          <a:off x="841248" y="339852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Dimension (pooled CV)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Ridge Regression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Random Forest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dirty="0"/>
                        <a:t>Accuracy (RMSE)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Lower or tied at 6 of 7 checkpoints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Higher, especially after Sem 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Ridge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dirty="0"/>
                        <a:t>Stability (SD of RMSE)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Lower at 6 of 7 checkpoints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/>
                        <a:t>Wider spread across folds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Ridge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Equity (bias magnitude)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/>
                        <a:t>Smaller at 6 of 7 checkpoints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/>
                        <a:t>Larger systematic bias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CA02C"/>
                          </a:solidFill>
                        </a:rPr>
                        <a:t>Ridge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  <a:r>
              <a:rPr lang="en-GB" dirty="0"/>
              <a:t> </a:t>
            </a:r>
            <a:r>
              <a:rPr dirty="0"/>
              <a:t>— The Three-Criterion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7" y="1318437"/>
            <a:ext cx="3710656" cy="392341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t" anchorCtr="0">
            <a:normAutofit/>
          </a:bodyPr>
          <a:lstStyle/>
          <a:p>
            <a:pPr algn="ctr"/>
            <a:r>
              <a:rPr sz="2600" b="1" dirty="0">
                <a:solidFill>
                  <a:srgbClr val="1F4E79"/>
                </a:solidFill>
                <a:latin typeface="Helvetica Light" panose="020B0403020202020204"/>
              </a:rPr>
              <a:t>1. Accuracy (RMSE)</a:t>
            </a:r>
            <a:endParaRPr lang="en-GB" sz="2600" b="1" dirty="0">
              <a:solidFill>
                <a:srgbClr val="1F4E79"/>
              </a:solidFill>
              <a:latin typeface="Helvetica Light" panose="020B0403020202020204"/>
            </a:endParaRPr>
          </a:p>
          <a:p>
            <a:pPr algn="ctr"/>
            <a:endParaRPr sz="1400" b="1" i="0" dirty="0">
              <a:solidFill>
                <a:srgbClr val="262626"/>
              </a:solidFill>
            </a:endParaRPr>
          </a:p>
          <a:p>
            <a:pPr marL="342900" indent="-3429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nb-NO" sz="2200" b="0" i="0" dirty="0">
                <a:solidFill>
                  <a:srgbClr val="262626"/>
                </a:solidFill>
                <a:latin typeface="Helvetica Light" panose="020B0403020202020204"/>
              </a:rPr>
              <a:t>≤ 0.25 GPA (Performing / Average)</a:t>
            </a:r>
          </a:p>
          <a:p>
            <a:pPr marL="342900" indent="-3429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nb-NO" sz="2200" b="0" i="0" dirty="0">
                <a:solidFill>
                  <a:srgbClr val="262626"/>
                </a:solidFill>
                <a:latin typeface="Helvetica Light" panose="020B0403020202020204"/>
              </a:rPr>
              <a:t>≤ 0.35 GPA (Underperforming)</a:t>
            </a:r>
          </a:p>
          <a:p>
            <a:pPr algn="l">
              <a:spcBef>
                <a:spcPts val="800"/>
              </a:spcBef>
            </a:pP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0.25 ≈ half a meaningful grade band</a:t>
            </a:r>
            <a:r>
              <a:rPr lang="en-GB" sz="2200" b="0" dirty="0">
                <a:solidFill>
                  <a:srgbClr val="262626"/>
                </a:solidFill>
                <a:latin typeface="Helvetica Light" panose="020B0403020202020204"/>
              </a:rPr>
              <a:t> (0.5)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 on this 4-point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15996" y="1318437"/>
            <a:ext cx="3161913" cy="3923414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>
                <a:alpha val="8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t" anchorCtr="0">
            <a:normAutofit lnSpcReduction="10000"/>
          </a:bodyPr>
          <a:lstStyle/>
          <a:p>
            <a:pPr algn="ctr"/>
            <a:r>
              <a:rPr sz="2400" b="1" dirty="0">
                <a:solidFill>
                  <a:srgbClr val="1F4E79"/>
                </a:solidFill>
                <a:latin typeface="Helvetica Light" panose="020B0403020202020204"/>
              </a:rPr>
              <a:t>2. Stability (SD of RMSE)</a:t>
            </a:r>
            <a:endParaRPr sz="1400" b="1" i="0" dirty="0">
              <a:solidFill>
                <a:srgbClr val="262626"/>
              </a:solidFill>
            </a:endParaRPr>
          </a:p>
          <a:p>
            <a:pPr marL="342900" indent="-3429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262626"/>
                </a:solidFill>
                <a:latin typeface="Helvetica Light" panose="020B0403020202020204"/>
              </a:rPr>
              <a:t>Must show a declining trend </a:t>
            </a:r>
            <a:endParaRPr sz="1400" b="1" i="0" dirty="0">
              <a:solidFill>
                <a:srgbClr val="262626"/>
              </a:solidFill>
            </a:endParaRPr>
          </a:p>
          <a:p>
            <a:pPr algn="l">
              <a:spcBef>
                <a:spcPts val="800"/>
              </a:spcBef>
            </a:pP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Catches models that look accurate on average but are fragile </a:t>
            </a:r>
            <a:r>
              <a:rPr lang="en-GB" sz="2200" b="0" dirty="0">
                <a:solidFill>
                  <a:srgbClr val="262626"/>
                </a:solidFill>
                <a:latin typeface="Helvetica Light" panose="020B0403020202020204"/>
              </a:rPr>
              <a:t>to 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which students land in which 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2003" y="1318438"/>
            <a:ext cx="3269126" cy="3923413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t" anchorCtr="0">
            <a:normAutofit/>
          </a:bodyPr>
          <a:lstStyle/>
          <a:p>
            <a:pPr algn="ctr"/>
            <a:r>
              <a:rPr sz="2400" b="1" dirty="0">
                <a:solidFill>
                  <a:srgbClr val="1F4E79"/>
                </a:solidFill>
                <a:latin typeface="Helvetica Light" panose="020B0403020202020204"/>
              </a:rPr>
              <a:t>3. Equity (Group Bias)</a:t>
            </a:r>
          </a:p>
          <a:p>
            <a:pPr marL="342900" indent="-3429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262626"/>
                </a:solidFill>
                <a:latin typeface="Helvetica Light" panose="020B0403020202020204"/>
              </a:rPr>
              <a:t>|mean bias| ≤ 0.10 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GPA points</a:t>
            </a:r>
            <a:endParaRPr sz="1400" b="1" dirty="0">
              <a:solidFill>
                <a:srgbClr val="262626"/>
              </a:solidFill>
            </a:endParaRPr>
          </a:p>
          <a:p>
            <a:pPr algn="l">
              <a:spcBef>
                <a:spcPts val="800"/>
              </a:spcBef>
            </a:pP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Caps systematic over/under-prediction</a:t>
            </a:r>
            <a:r>
              <a:rPr lang="en-GB" sz="2200" dirty="0">
                <a:solidFill>
                  <a:srgbClr val="262626"/>
                </a:solidFill>
                <a:latin typeface="Helvetica Light" panose="020B0403020202020204"/>
              </a:rPr>
              <a:t> t</a:t>
            </a:r>
            <a:r>
              <a:rPr lang="en-GB" sz="2200" b="0" dirty="0">
                <a:solidFill>
                  <a:srgbClr val="262626"/>
                </a:solidFill>
                <a:latin typeface="Helvetica Light" panose="020B0403020202020204"/>
              </a:rPr>
              <a:t>o 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40% of the RMSE through directional error.</a:t>
            </a:r>
            <a:endParaRPr lang="en-GB" sz="2200" b="0" dirty="0">
              <a:solidFill>
                <a:srgbClr val="262626"/>
              </a:solidFill>
              <a:latin typeface="Helvetica Light" panose="020B0403020202020204"/>
            </a:endParaRPr>
          </a:p>
          <a:p>
            <a:pPr algn="l">
              <a:spcBef>
                <a:spcPts val="800"/>
              </a:spcBef>
            </a:pPr>
            <a:endParaRPr sz="1300" b="0" i="1" dirty="0">
              <a:solidFill>
                <a:srgbClr val="262626"/>
              </a:solidFill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47379FB7-0C7F-DCA3-BDAF-C7FEBBC9B7B4}"/>
              </a:ext>
            </a:extLst>
          </p:cNvPr>
          <p:cNvSpPr/>
          <p:nvPr/>
        </p:nvSpPr>
        <p:spPr>
          <a:xfrm>
            <a:off x="841248" y="5453435"/>
            <a:ext cx="10515600" cy="660286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>
            <a:normAutofit fontScale="92500" lnSpcReduction="20000"/>
          </a:bodyPr>
          <a:lstStyle/>
          <a:p>
            <a:pPr algn="ctr"/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These thresholds are grounded in this 4-point GPA scale</a:t>
            </a:r>
            <a:r>
              <a:rPr lang="en-GB" sz="2200" b="0" dirty="0">
                <a:solidFill>
                  <a:srgbClr val="262626"/>
                </a:solidFill>
                <a:latin typeface="Helvetica Light" panose="020B0403020202020204"/>
              </a:rPr>
              <a:t>. 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What transfers to other institutions is the three-criterion structure, not these exact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Results I — Convergence of the Three Criteria (Cross-Validation)</a:t>
            </a:r>
          </a:p>
        </p:txBody>
      </p:sp>
      <p:pic>
        <p:nvPicPr>
          <p:cNvPr id="4" name="Picture 3" descr="ICODE_Convergence_3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17319"/>
            <a:ext cx="5162604" cy="4813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88149" y="1545967"/>
            <a:ext cx="5168698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i="0" dirty="0">
                <a:latin typeface="Helvetica Light" panose="020B0403020202020204"/>
              </a:rPr>
              <a:t>Performing &amp; Average clear all three bars earliest in cross-validation.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latin typeface="Helvetica Light" panose="020B0403020202020204"/>
              </a:rPr>
              <a:t>Underperforming's SD(RMSE) stays elevated and non-monotonic through Semesters 3–4 — the binding constraint, reflecting real prediction difficulty for this smaller group (n=46).</a:t>
            </a:r>
          </a:p>
          <a:p>
            <a:pPr>
              <a:spcAft>
                <a:spcPts val="600"/>
              </a:spcAft>
            </a:pPr>
            <a:r>
              <a:rPr lang="en-GB" sz="2400" b="1" dirty="0">
                <a:latin typeface="Helvetica Light" panose="020B0403020202020204"/>
              </a:rPr>
              <a:t>A</a:t>
            </a:r>
            <a:r>
              <a:rPr sz="2400" b="1" i="0" dirty="0" err="1">
                <a:latin typeface="Helvetica Light" panose="020B0403020202020204"/>
              </a:rPr>
              <a:t>ccuracy</a:t>
            </a:r>
            <a:r>
              <a:rPr sz="2400" b="1" i="0" dirty="0">
                <a:latin typeface="Helvetica Light" panose="020B0403020202020204"/>
              </a:rPr>
              <a:t> is </a:t>
            </a:r>
            <a:r>
              <a:rPr lang="en-GB" sz="2400" b="1" i="0" dirty="0">
                <a:latin typeface="Helvetica Light" panose="020B0403020202020204"/>
              </a:rPr>
              <a:t>not</a:t>
            </a:r>
            <a:r>
              <a:rPr sz="2400" b="1" i="0" dirty="0">
                <a:latin typeface="Helvetica Light" panose="020B0403020202020204"/>
              </a:rPr>
              <a:t> the group-defining bottleneck; stability and bias 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7F40-5D10-EC4F-4208-72DB1250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Results I — Convergence of the Three Criteria (Overall Model)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FBBEF-3C19-67D2-4557-7A659E3F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727EE-4515-4A1E-13AF-1CD32506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DBCA6C-E5EB-BB1C-06EB-DC295663E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88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II — External Validation (2019 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60562"/>
              </p:ext>
            </p:extLst>
          </p:nvPr>
        </p:nvGraphicFramePr>
        <p:xfrm>
          <a:off x="841248" y="1323050"/>
          <a:ext cx="10509504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2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77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Sem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HP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HP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Bias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Avg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Avg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Bias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UP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UP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Bias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  <a:latin typeface="Helvetica Light" panose="020B0403020202020204"/>
                        </a:rPr>
                        <a:t>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0.208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-0.152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0.378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-0.321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0.603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latin typeface="Helvetica Light" panose="020B0403020202020204"/>
                        </a:rPr>
                        <a:t>-0.480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  <a:latin typeface="Helvetica Light" panose="020B0403020202020204"/>
                        </a:rPr>
                        <a:t>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latin typeface="Helvetica Light" panose="020B0403020202020204"/>
                        </a:rPr>
                        <a:t>0.142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latin typeface="Helvetica Light" panose="020B0403020202020204"/>
                        </a:rPr>
                        <a:t>-0.087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0.228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-0.149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0.426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latin typeface="Helvetica Light" panose="020B0403020202020204"/>
                        </a:rPr>
                        <a:t>-0.302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  <a:latin typeface="Helvetica Light" panose="020B0403020202020204"/>
                        </a:rPr>
                        <a:t>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0.091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-0.017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Helvetica Light" panose="020B0403020202020204"/>
                        </a:rPr>
                        <a:t>0.144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latin typeface="Helvetica Light" panose="020B0403020202020204"/>
                        </a:rPr>
                        <a:t>-0.072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0.305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latin typeface="Helvetica Light" panose="020B0403020202020204"/>
                        </a:rPr>
                        <a:t>-0.202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  <a:latin typeface="Helvetica Light" panose="020B0403020202020204"/>
                        </a:rPr>
                        <a:t>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0.072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0.048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0.094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0.041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latin typeface="Helvetica Light" panose="020B0403020202020204"/>
                        </a:rPr>
                        <a:t>0.163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Helvetica Light" panose="020B0403020202020204"/>
                        </a:rPr>
                        <a:t>-0.035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10019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1" dirty="0">
                <a:solidFill>
                  <a:srgbClr val="707070"/>
                </a:solidFill>
                <a:latin typeface="Helvetica Light" panose="020B0403020202020204"/>
              </a:rPr>
              <a:t>HP = High-performing   Avg = Average   UP = Underperforming   highlighted = confirmed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48831"/>
            <a:ext cx="1051560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 dirty="0">
                <a:latin typeface="Helvetica Light" panose="020B0403020202020204"/>
              </a:rPr>
              <a:t>Bias exceedance at the CV candidate semester pushes the confirmed point one semester later for High-performing and Average.</a:t>
            </a:r>
          </a:p>
          <a:p>
            <a:pPr>
              <a:spcAft>
                <a:spcPts val="600"/>
              </a:spcAft>
            </a:pPr>
            <a:r>
              <a:rPr sz="2400" b="0" i="0" dirty="0">
                <a:latin typeface="Helvetica Light" panose="020B0403020202020204"/>
              </a:rPr>
              <a:t>CV and external evidence agree</a:t>
            </a:r>
            <a:r>
              <a:rPr lang="en-GB" sz="2400" b="0" i="0" dirty="0">
                <a:latin typeface="Helvetica Light" panose="020B0403020202020204"/>
              </a:rPr>
              <a:t> for underperformers.</a:t>
            </a:r>
            <a:endParaRPr sz="2400" b="0" i="0" dirty="0">
              <a:latin typeface="Helvetica Light" panose="020B0403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0" dirty="0"/>
              <a:t>Accuracy alone is an insufficient deployment criterion — RMSE cleared its bar before bias/stability did, for every group.</a:t>
            </a:r>
            <a:br>
              <a:rPr lang="en-GB" dirty="0"/>
            </a:br>
            <a:endParaRPr b="0" dirty="0"/>
          </a:p>
          <a:p>
            <a:r>
              <a:rPr b="0" dirty="0"/>
              <a:t>Reliable timing is genuinely group-dependent — a single university-wide “go” semester is not justified by the data.</a:t>
            </a:r>
            <a:br>
              <a:rPr lang="en-GB" b="0" dirty="0"/>
            </a:br>
            <a:endParaRPr b="0" dirty="0"/>
          </a:p>
          <a:p>
            <a:r>
              <a:rPr b="1" dirty="0"/>
              <a:t>What this means for advising systems:</a:t>
            </a:r>
          </a:p>
          <a:p>
            <a:pPr lvl="1"/>
            <a:r>
              <a:rPr sz="2400" b="0" dirty="0"/>
              <a:t>Group-specific timelines tell the system when to trust a number per group — not one blanket go-live date.</a:t>
            </a:r>
          </a:p>
          <a:p>
            <a:pPr lvl="1"/>
            <a:r>
              <a:rPr sz="2400" b="0" dirty="0"/>
              <a:t>Pre-Semester-5 predictions for at-risk students aren't useless — their known bias can be used as a directional</a:t>
            </a:r>
            <a:r>
              <a:rPr lang="en-GB" sz="2400" dirty="0"/>
              <a:t> </a:t>
            </a:r>
            <a:r>
              <a:rPr sz="2400" b="0" dirty="0"/>
              <a:t>signal for early support planning, rather than withheld entirely.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</a:t>
            </a:r>
            <a:r>
              <a:rPr lang="en-GB" dirty="0"/>
              <a:t> &amp; Future Directions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0" dirty="0"/>
              <a:t>Contribution: a reusable, equity-aware three-criterion framework</a:t>
            </a:r>
            <a:r>
              <a:rPr lang="en-GB" b="0" dirty="0"/>
              <a:t>.</a:t>
            </a:r>
            <a:endParaRPr b="0" dirty="0"/>
          </a:p>
          <a:p>
            <a:r>
              <a:rPr b="0" dirty="0"/>
              <a:t>Limitation</a:t>
            </a:r>
            <a:r>
              <a:rPr lang="en-GB" b="0" dirty="0"/>
              <a:t>s: </a:t>
            </a:r>
            <a:r>
              <a:rPr b="0" dirty="0"/>
              <a:t>small sample, especially </a:t>
            </a:r>
            <a:r>
              <a:rPr lang="en-GB" b="0" dirty="0"/>
              <a:t>from</a:t>
            </a:r>
            <a:r>
              <a:rPr b="0" dirty="0"/>
              <a:t>177 overall</a:t>
            </a:r>
            <a:r>
              <a:rPr lang="en-GB" dirty="0"/>
              <a:t> </a:t>
            </a:r>
            <a:r>
              <a:rPr b="0" dirty="0"/>
              <a:t>only 46 Underperforming students</a:t>
            </a:r>
            <a:r>
              <a:rPr lang="en-GB" b="0" dirty="0"/>
              <a:t>, </a:t>
            </a:r>
            <a:r>
              <a:rPr b="0" dirty="0"/>
              <a:t>~9 per CV fold, likely driving that group's noisy stability trend.</a:t>
            </a:r>
          </a:p>
          <a:p>
            <a:r>
              <a:rPr b="0" dirty="0"/>
              <a:t>Findings from this cohort are preliminary estimates, not precise thresholds, until validated on a larger sample.</a:t>
            </a:r>
          </a:p>
          <a:p>
            <a:r>
              <a:rPr b="0" dirty="0"/>
              <a:t>Single-institution data — it's the method, not the specific semesters, that should be reapplied elsewhere.</a:t>
            </a:r>
            <a:endParaRPr lang="en-GB" dirty="0"/>
          </a:p>
          <a:p>
            <a:r>
              <a:rPr lang="en-GB" dirty="0"/>
              <a:t>Future direction: adds module-level grades + SHAP to find early explanatory warning signals (Sem 0–2); independent of the numeric prediction's own reliability.</a:t>
            </a:r>
          </a:p>
          <a:p>
            <a:endParaRPr lang="en-GB" sz="1800" dirty="0"/>
          </a:p>
          <a:p>
            <a:endParaRPr sz="1800" b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1A926-1169-9624-491B-7194F47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1DE-ACE6-410C-A367-B03B5EAE8009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A65A1-14CD-5290-6306-74B3982D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95D91-9F95-CAA4-40A6-78B35A8D30D6}"/>
              </a:ext>
            </a:extLst>
          </p:cNvPr>
          <p:cNvSpPr txBox="1"/>
          <p:nvPr/>
        </p:nvSpPr>
        <p:spPr>
          <a:xfrm>
            <a:off x="3060700" y="2367171"/>
            <a:ext cx="6121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6600" i="1" noProof="0" dirty="0">
                <a:latin typeface="PT Serif" panose="020A0603040505020204" pitchFamily="18" charset="77"/>
              </a:rPr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39756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4613</TotalTime>
  <Words>1019</Words>
  <Application>Microsoft Office PowerPoint</Application>
  <PresentationFormat>Widescreen</PresentationFormat>
  <Paragraphs>166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Batang</vt:lpstr>
      <vt:lpstr>Arial</vt:lpstr>
      <vt:lpstr>Calibri</vt:lpstr>
      <vt:lpstr>Calibri Light</vt:lpstr>
      <vt:lpstr>Helvetica Light</vt:lpstr>
      <vt:lpstr>PT Serif</vt:lpstr>
      <vt:lpstr>Office Theme</vt:lpstr>
      <vt:lpstr>A Group-Stratified Reliability Framework for Trustworthy Early-GPA Prediction in Higher Education</vt:lpstr>
      <vt:lpstr>The Problem: Why Accuracy Alone Isn't Enough</vt:lpstr>
      <vt:lpstr>Research Question &amp; the Gap in the Literature</vt:lpstr>
      <vt:lpstr>Data used in the research</vt:lpstr>
      <vt:lpstr>Exploratory Data Analysis</vt:lpstr>
      <vt:lpstr>Methodology — Design &amp; Model Selection</vt:lpstr>
      <vt:lpstr>Methodology — The Three-Criterion Framework</vt:lpstr>
      <vt:lpstr>Results I — Convergence of the Three Criteria (Cross-Validation)</vt:lpstr>
      <vt:lpstr>Results I — Convergence of the Three Criteria (Overall Model)</vt:lpstr>
      <vt:lpstr>Results II — External Validation (2019 Test Set)</vt:lpstr>
      <vt:lpstr>Discussion</vt:lpstr>
      <vt:lpstr>Limitations &amp; Future Directions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Janithapriya Buddhika K. PATHIRAGE DON</dc:creator>
  <cp:lastModifiedBy>Andrew Lesley Vinushly</cp:lastModifiedBy>
  <cp:revision>44</cp:revision>
  <dcterms:created xsi:type="dcterms:W3CDTF">2023-10-19T00:48:35Z</dcterms:created>
  <dcterms:modified xsi:type="dcterms:W3CDTF">2026-08-02T12:46:44Z</dcterms:modified>
</cp:coreProperties>
</file>