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50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548640"/>
            <a:ext cx="2194560" cy="219456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3474720"/>
            <a:ext cx="1463040" cy="146304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9A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Stability-Centered Framework for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Final GPA Prediction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Group-Specific Reliable Prediction Points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Sayuri Witharana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Tiloka De Silva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Business, University of Moratuwa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alone is not enough?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increasingly use GPA prediction to guide academic advising and student intervention. Most models ask: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892"/>
            <a:ext cx="5029200" cy="502920"/>
          </a:xfrm>
          <a:prstGeom prst="rect">
            <a:avLst/>
          </a:prstGeom>
          <a:solidFill>
            <a:srgbClr val="E0F4F6"/>
          </a:solidFill>
          <a:ln w="1270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648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model accurate?"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overlook three critical questions: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029200" cy="493776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86207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200" dirty="0"/>
              <a:t>When does prediction become stable enough for intervention?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5029200" cy="493776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  </a:t>
            </a:r>
            <a:r>
              <a:rPr lang="en-US" sz="1200" dirty="0"/>
              <a:t>Does reliability emerge equally across student performance groups?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3968496"/>
            <a:ext cx="5029200" cy="493776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6400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9959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</a:t>
            </a:r>
            <a:r>
              <a:rPr lang="en-US" sz="1200" dirty="0"/>
              <a:t>Do early predictions systematically overestimate at-risk students?</a:t>
            </a:r>
            <a:endParaRPr lang="en-US" sz="1200" b="1" dirty="0"/>
          </a:p>
        </p:txBody>
      </p:sp>
      <p:sp>
        <p:nvSpPr>
          <p:cNvPr id="18" name="Shape 16"/>
          <p:cNvSpPr/>
          <p:nvPr/>
        </p:nvSpPr>
        <p:spPr>
          <a:xfrm>
            <a:off x="5669280" y="1005840"/>
            <a:ext cx="3200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005840"/>
            <a:ext cx="64008" cy="18288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1051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13258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earliest semester can final GPA be predicted reliably and equitably across different student performance groups?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0" y="2971800"/>
            <a:ext cx="3200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69280" y="2971800"/>
            <a:ext cx="64008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3017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/>
              <a:t>Research Gap</a:t>
            </a:r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Existing studies prioritize predictive accuracy, but rarely evaluate prediction stability, subgroup reliability, and systematic bias in early GPA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10455"/>
            <a:ext cx="8595360" cy="822960"/>
          </a:xfrm>
          <a:prstGeom prst="rect">
            <a:avLst/>
          </a:prstGeom>
          <a:solidFill>
            <a:srgbClr val="FFF3F3"/>
          </a:solidFill>
          <a:ln w="1016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3788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Harm of False Reassurance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1220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overpredicts an at-risk student's GPA delivers false reassurance → no intervention is triggered → student's outcome worsens. This an equity problem with real consequences.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79376"/>
            <a:ext cx="2834640" cy="306324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885421"/>
            <a:ext cx="28346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7937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👤</a:t>
            </a:r>
            <a:r>
              <a:rPr lang="en-US" sz="1400" b="1" dirty="0">
                <a:solidFill>
                  <a:schemeClr val="bg1"/>
                </a:solidFill>
              </a:rPr>
              <a:t>For At-Risk Students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23640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b="1" dirty="0"/>
              <a:t>Early unstable predictions can delay support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Overestimating struggling students creates false reassurance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Delayed intervention reduces recovery opportunities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Understanding bias helps identify hidden risk earlier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1879376"/>
            <a:ext cx="2834640" cy="306324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879376"/>
            <a:ext cx="283464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87937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⚙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Academic Decision-Making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3640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b="1" dirty="0"/>
              <a:t>Institutions need to know when predictions are trustworthy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Acting too early may rely on unstable predictions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Acting too late loses valuable intervention time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Reliability thresholds help balance timing and confidence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879376"/>
            <a:ext cx="2834640" cy="306324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879376"/>
            <a:ext cx="2834640" cy="3840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87937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🏫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23640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b="1" dirty="0"/>
              <a:t>Student Batches change over time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Academic distributions vary across batches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A model trained once may not remain reliable forever</a:t>
            </a:r>
          </a:p>
          <a:p>
            <a:pPr>
              <a:buSzPct val="100000"/>
            </a:pPr>
            <a:br>
              <a:rPr lang="en-US" sz="1200" dirty="0"/>
            </a:br>
            <a:r>
              <a:rPr lang="en-US" sz="1200" dirty="0"/>
              <a:t>• A reusable framework helps generate updated cohort-specific insights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Exploratory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24437" y="4792576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Business, University of Moratuwa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960120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33502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(2017–2019)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1965960" cy="960120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822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33502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(2017–2018)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822960"/>
            <a:ext cx="1965960" cy="960120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822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133502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822960"/>
            <a:ext cx="1965960" cy="960120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822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03136" y="133502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2651760" cy="269748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64008" cy="26974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Groups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201168" cy="3840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40280" y="239572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081528"/>
            <a:ext cx="201168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40280" y="308152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n=43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201168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" y="37673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240280" y="376732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4543485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by final GPA thresholds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evaluation — not model inputs. 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54680" y="1920240"/>
            <a:ext cx="2743200" cy="269748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154680" y="1920240"/>
            <a:ext cx="64008" cy="2697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3756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23774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Pre-academic &amp; Demographic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37560" y="3154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Variables: Gender, Department,</a:t>
            </a:r>
            <a:r>
              <a:rPr lang="en-US" sz="1150" dirty="0"/>
              <a:t> </a:t>
            </a: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Medium of A/L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37560" y="39319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Academic: Semester GPA (S1–S5), Z Score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80760" y="1920240"/>
            <a:ext cx="2788920" cy="269748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1920240"/>
            <a:ext cx="64008" cy="2697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2377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63640" y="27980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right-skewed distribution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218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GPA: left-skewed by later semesters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3639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retained — they represent genuine academic risk signals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63640" y="40599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selected to preserve low-GPA signals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73936" y="21031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1572768" cy="3401568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804672"/>
            <a:ext cx="15727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" y="80467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" y="12984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83080"/>
            <a:ext cx="142646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(OHE)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scaling (</a:t>
            </a:r>
            <a:r>
              <a:rPr lang="en-US" sz="100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pipeline — no data leakage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47872" y="21031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75104" y="804672"/>
            <a:ext cx="1572768" cy="3401568"/>
          </a:xfrm>
          <a:prstGeom prst="rect">
            <a:avLst/>
          </a:prstGeom>
          <a:solidFill>
            <a:srgbClr val="F1F8F9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75104" y="804672"/>
            <a:ext cx="15727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75104" y="80467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20824" y="12984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Snapshots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48256" y="1783080"/>
            <a:ext cx="142646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cumulative feature 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(pre-academic) → S5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predicts Final GPA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804672"/>
            <a:ext cx="1572768" cy="3401568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804672"/>
            <a:ext cx="15727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80467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12984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22192" y="1783080"/>
            <a:ext cx="142646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vs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evaluated</a:t>
            </a:r>
          </a:p>
          <a:p>
            <a:pPr marL="0" indent="0">
              <a:buNone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selected for stability &amp; small-data suitability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95744" y="21031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22976" y="804672"/>
            <a:ext cx="1572768" cy="3401568"/>
          </a:xfrm>
          <a:prstGeom prst="rect">
            <a:avLst/>
          </a:prstGeom>
          <a:solidFill>
            <a:srgbClr val="F1F8F9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804672"/>
            <a:ext cx="15727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22976" y="80467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68696" y="12984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96128" y="1783080"/>
            <a:ext cx="142646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× 10-</a:t>
            </a: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r>
              <a:rPr lang="en-US" sz="1000" b="1" dirty="0"/>
              <a:t> </a:t>
            </a: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CV</a:t>
            </a: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2017–2018 data </a:t>
            </a:r>
          </a:p>
          <a:p>
            <a:pPr marL="0" indent="0">
              <a:buNone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evaluations Per Model</a:t>
            </a:r>
          </a:p>
          <a:p>
            <a:pPr marL="0" indent="0">
              <a:buNone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cohort = test set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96912" y="804672"/>
            <a:ext cx="1572768" cy="3401568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296912" y="804672"/>
            <a:ext cx="15727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96912" y="80467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42632" y="129844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70064" y="1783080"/>
            <a:ext cx="142646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SD(RMSE)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Group-wise bias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ΔRMSE per semester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All-four-criteria rule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5902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2017–2018 (n=178)   |   Test: 2019 (n=93)   |   Temporal split preserves realistic deployment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Ridge vs Random Forest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0467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8046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8046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8046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804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234440"/>
            <a:ext cx="868680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2344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12344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RMSE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12344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 7/12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group-sem pairs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edges avg students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1417320"/>
            <a:ext cx="1645920" cy="475488"/>
          </a:xfrm>
          <a:prstGeom prst="rect">
            <a:avLst/>
          </a:prstGeom>
          <a:solidFill>
            <a:srgbClr val="EAF3DE"/>
          </a:solidFill>
          <a:ln w="635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4173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167128"/>
            <a:ext cx="8686800" cy="868680"/>
          </a:xfrm>
          <a:prstGeom prst="rect">
            <a:avLst/>
          </a:prstGeom>
          <a:solidFill>
            <a:srgbClr val="F1F8F9"/>
          </a:solidFill>
          <a:ln w="381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2167128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216712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SD(RMSE)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216712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lower;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improves Sem2→3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16712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rises slightly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Sem2→3 (0.034→0.036)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2350008"/>
            <a:ext cx="1645920" cy="475488"/>
          </a:xfrm>
          <a:prstGeom prst="rect">
            <a:avLst/>
          </a:prstGeom>
          <a:solidFill>
            <a:srgbClr val="EAF3DE"/>
          </a:solidFill>
          <a:ln w="635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23500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099816"/>
            <a:ext cx="868680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3099816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099816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Bias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54680" y="3099816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8/12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09981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bias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 at Sem3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(−0.115 &gt; 0.10)</a:t>
            </a:r>
          </a:p>
        </p:txBody>
      </p:sp>
      <p:sp>
        <p:nvSpPr>
          <p:cNvPr id="30" name="Shape 28"/>
          <p:cNvSpPr/>
          <p:nvPr/>
        </p:nvSpPr>
        <p:spPr>
          <a:xfrm>
            <a:off x="6446520" y="3282696"/>
            <a:ext cx="1645920" cy="475488"/>
          </a:xfrm>
          <a:prstGeom prst="rect">
            <a:avLst/>
          </a:prstGeom>
          <a:solidFill>
            <a:srgbClr val="EAF3DE"/>
          </a:solidFill>
          <a:ln w="635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3282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" y="4050792"/>
            <a:ext cx="8686800" cy="68580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0507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Ridge Regression selected — dominant on stability and equity; the two criteria most critical to this research framework. 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Decision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57400" cy="3977640"/>
          </a:xfrm>
          <a:prstGeom prst="rect">
            <a:avLst/>
          </a:prstGeom>
          <a:solidFill>
            <a:srgbClr val="F1F8F9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574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RMSE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1874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0.25 (perf/avg)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0.35 (underperf)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3042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19019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4-point GPA scale, 0.25 ≈ half a grade band — minimum precision for an actionable advising decision. Higher threshold for underperforming students reflects inherent outcome variance in this group.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822960"/>
            <a:ext cx="2057400" cy="3977640"/>
          </a:xfrm>
          <a:prstGeom prst="rect">
            <a:avLst/>
          </a:prstGeom>
          <a:solidFill>
            <a:srgbClr val="F1F8F9"/>
          </a:solidFill>
          <a:ln w="6350">
            <a:solidFill>
              <a:srgbClr val="378A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41448" y="822960"/>
            <a:ext cx="2057400" cy="4114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SD(RMSE)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129844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32888" y="1536192"/>
            <a:ext cx="1874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78608" y="155448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0.04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plateauing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32888" y="23042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32888" y="2542032"/>
            <a:ext cx="19019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/>
              <a:t>Across repeated CV, stable models showed RMSE variation around </a:t>
            </a:r>
            <a:r>
              <a:rPr lang="en-US" sz="1000" b="1" dirty="0"/>
              <a:t>0.03–0.04</a:t>
            </a:r>
            <a:r>
              <a:rPr lang="en-US" sz="1000" dirty="0"/>
              <a:t>. We set </a:t>
            </a:r>
            <a:r>
              <a:rPr lang="en-US" sz="1000" b="1" dirty="0"/>
              <a:t>0.04</a:t>
            </a:r>
            <a:r>
              <a:rPr lang="en-US" sz="1000" dirty="0"/>
              <a:t> as the upper limit because anything beyond that suggests the model is too dependent on the train/validation split.</a:t>
            </a:r>
          </a:p>
        </p:txBody>
      </p:sp>
      <p:sp>
        <p:nvSpPr>
          <p:cNvPr id="21" name="Shape 19"/>
          <p:cNvSpPr/>
          <p:nvPr/>
        </p:nvSpPr>
        <p:spPr>
          <a:xfrm>
            <a:off x="4654296" y="822960"/>
            <a:ext cx="2057400" cy="3977640"/>
          </a:xfrm>
          <a:prstGeom prst="rect">
            <a:avLst/>
          </a:prstGeom>
          <a:solidFill>
            <a:srgbClr val="F1F8F9"/>
          </a:solidFill>
          <a:ln w="6350">
            <a:solidFill>
              <a:srgbClr val="D85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4296" y="822960"/>
            <a:ext cx="2057400" cy="4114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27448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Group Bias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45736" y="129844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45736" y="1536192"/>
            <a:ext cx="1874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155448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0.05 negligible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 tolerable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0.10 disqualifying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45736" y="23042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45736" y="2542032"/>
            <a:ext cx="19019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Overpredicting an at-risk student produces false reassurance and withholds intervention — the most harmful failure mode. A bias &gt; 0.10 consumes 40% of the RMSE budget through systematic directional error alone.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67144" y="822960"/>
            <a:ext cx="2057400" cy="3977640"/>
          </a:xfrm>
          <a:prstGeom prst="rect">
            <a:avLst/>
          </a:prstGeom>
          <a:solidFill>
            <a:srgbClr val="F1F8F9"/>
          </a:solidFill>
          <a:ln w="63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67144" y="822960"/>
            <a:ext cx="205740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0296" y="822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ΔRMSE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58584" y="129844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58584" y="1536192"/>
            <a:ext cx="1874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04304" y="155448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0.03 per semester OR   Diminishing Returns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58584" y="23042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58584" y="2542032"/>
            <a:ext cx="19019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the model's own noise floor (SD ≈ 0.03–0.04). Gains below this level are indistinguishable from resampling noise. Also &lt; 12% of the RMSE threshold — does not change any advising decision.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4828032"/>
            <a:ext cx="86868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837176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 rule: a semester is the earliest reliable point only when ALL four criteria are satisfied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3">
            <a:extLst>
              <a:ext uri="{FF2B5EF4-FFF2-40B4-BE49-F238E27FC236}">
                <a16:creationId xmlns:a16="http://schemas.microsoft.com/office/drawing/2014/main" id="{05782DC9-8D40-2CA0-5296-89308C9D95D6}"/>
              </a:ext>
            </a:extLst>
          </p:cNvPr>
          <p:cNvSpPr/>
          <p:nvPr/>
        </p:nvSpPr>
        <p:spPr>
          <a:xfrm>
            <a:off x="4156788" y="705654"/>
            <a:ext cx="4850052" cy="3499342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45E71E58-146F-CD39-A41C-D8E8B36B74DC}"/>
              </a:ext>
            </a:extLst>
          </p:cNvPr>
          <p:cNvSpPr/>
          <p:nvPr/>
        </p:nvSpPr>
        <p:spPr>
          <a:xfrm>
            <a:off x="228599" y="715120"/>
            <a:ext cx="3785637" cy="3489876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Earliest Reliable Prediction Semesters</a:t>
            </a:r>
            <a:endParaRPr lang="en-US" sz="2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798FA4C-8EEE-DB18-9625-FF97A3F09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191" y="715119"/>
            <a:ext cx="4803983" cy="3421452"/>
          </a:xfrm>
          <a:prstGeom prst="rect">
            <a:avLst/>
          </a:prstGeom>
        </p:spPr>
      </p:pic>
      <p:sp>
        <p:nvSpPr>
          <p:cNvPr id="48" name="Text 25">
            <a:extLst>
              <a:ext uri="{FF2B5EF4-FFF2-40B4-BE49-F238E27FC236}">
                <a16:creationId xmlns:a16="http://schemas.microsoft.com/office/drawing/2014/main" id="{1AA7E42D-3384-5F82-2690-FC53EDF6561B}"/>
              </a:ext>
            </a:extLst>
          </p:cNvPr>
          <p:cNvSpPr/>
          <p:nvPr/>
        </p:nvSpPr>
        <p:spPr>
          <a:xfrm>
            <a:off x="207853" y="4494730"/>
            <a:ext cx="8798987" cy="407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group-dependent — a single university-wide trigger cannot be justified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caveat: Average group shows negative subgroup R² — predictions are accurate in absolute terms but cannot reliably rank within-group</a:t>
            </a:r>
          </a:p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977AABC-9D5B-963C-3BEF-D1FFE7604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64" y="727232"/>
            <a:ext cx="3767772" cy="34214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Validation: 2019 Test 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Sem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62272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188720"/>
            <a:ext cx="8686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62272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316736"/>
            <a:ext cx="1828800" cy="411480"/>
          </a:xfrm>
          <a:prstGeom prst="rect">
            <a:avLst/>
          </a:prstGeom>
          <a:solidFill>
            <a:srgbClr val="EAF3DE"/>
          </a:solidFill>
          <a:ln w="508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13167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1938528"/>
            <a:ext cx="8686800" cy="685800"/>
          </a:xfrm>
          <a:prstGeom prst="rect">
            <a:avLst/>
          </a:prstGeom>
          <a:solidFill>
            <a:srgbClr val="F1F8F9"/>
          </a:solidFill>
          <a:ln w="381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19385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98448" y="19385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19385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19385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19385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9385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46520" y="2066544"/>
            <a:ext cx="1828800" cy="411480"/>
          </a:xfrm>
          <a:prstGeom prst="rect">
            <a:avLst/>
          </a:prstGeom>
          <a:solidFill>
            <a:srgbClr val="FAEEDA"/>
          </a:solidFill>
          <a:ln w="5080">
            <a:solidFill>
              <a:srgbClr val="633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20665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688336"/>
            <a:ext cx="86868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AD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98448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14600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62272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68833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2816352"/>
            <a:ext cx="1828800" cy="411480"/>
          </a:xfrm>
          <a:prstGeom prst="rect">
            <a:avLst/>
          </a:prstGeom>
          <a:solidFill>
            <a:srgbClr val="EAF3DE"/>
          </a:solidFill>
          <a:ln w="508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46520" y="28163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3493008"/>
            <a:ext cx="8686800" cy="347472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Performing:  RMSE gap only 0.004. Bias shifts direction but stays within tolerable ≤0.10.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3895344"/>
            <a:ext cx="8686800" cy="347472"/>
          </a:xfrm>
          <a:prstGeom prst="rect">
            <a:avLst/>
          </a:prstGeom>
          <a:solidFill>
            <a:srgbClr val="FFFBF5"/>
          </a:solidFill>
          <a:ln w="6350">
            <a:solidFill>
              <a:srgbClr val="6338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8953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 RMSE within threshold (≤0.25) but test bias exceeds 0.10. Average group most sensitive to cohort differences.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4297680"/>
            <a:ext cx="8686800" cy="347472"/>
          </a:xfrm>
          <a:prstGeom prst="rect">
            <a:avLst/>
          </a:prstGeom>
          <a:solidFill>
            <a:srgbClr val="E0F4F6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297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Underperf.:  Test RMSE marginally better than CV. Bias near-zero. Sem 5 conclusion strongly confirmed.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Finding: Cohort Sensitivity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658368"/>
          </a:xfrm>
          <a:prstGeom prst="rect">
            <a:avLst/>
          </a:prstGeom>
          <a:solidFill>
            <a:srgbClr val="FFF3F3"/>
          </a:solidFill>
          <a:ln w="1016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trained on 2017–2019 was tested on the 2020 cohort, test RMSE degraded substantially compared to the 2019 test set — particularly for performing and average students. This was initially alarming, but investigation revealed a distributional shift in the 2020 data.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" y="1572768"/>
            <a:ext cx="2788920" cy="192024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64008" cy="1920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COVID-19 disruption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entrants experienced disrupted A-Level exams and transitioned to online learning in early semesters — altering their academic trajectory patterns relative to 2017–2019 cohorts.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572768"/>
            <a:ext cx="2788920" cy="192024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64008" cy="1920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Distributional shift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0116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distributions of the 2020 cohort diverged from training data. The model learned relationships from a stable pre-COVID population — these did not fully transfer.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17336" y="1572768"/>
            <a:ext cx="2788920" cy="1920240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17336" y="1572768"/>
            <a:ext cx="64008" cy="1920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0216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Not a model failure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20116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model that encounters a shifted distribution should show degraded test performance. This is expected behavior — not a bug. The 2019 test set, drawn from the same distribution, confirmed the framework.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611880"/>
            <a:ext cx="8686800" cy="12344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Framework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of this study is not a fixed semester recommendation for a specific institution — it is a reusable methodological framework. When academic distributions shift (due to curriculum changes, external disruptions, or policy changes), the framework should be re-applied on updated cohort data to generate current reliability estimates. This makes the approach generalisable and institutionally sustainable.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Implications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686800" cy="969264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64008" cy="9692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22960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8961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group-dependent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and Average students reach reliable prediction at Semester 3. Underperforming students require until Semester 5. A single university-wide prediction trigger is not justified — group-specific intervention timelines are needed.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28600" y="1865376"/>
            <a:ext cx="8686800" cy="969264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865376"/>
            <a:ext cx="64008" cy="96926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errors are asymmetric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24942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Early-semester models systematically overpredict underperforming students — false reassurance. For example, a Semester 3 prediction of 2.80 may correspond to an actual GPA closer to 2.50. Even unreliable early predictions are useful as directional risk signals when bias is accounted for.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28600" y="2907792"/>
            <a:ext cx="8686800" cy="969264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907792"/>
            <a:ext cx="64008" cy="9692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907792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298094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must be evaluated, not assumed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good mean RMSE can still be fragile under resampling. SD(RMSE) across 50 evaluations revealed that average students' predictions were unstable through Semester 2 despite acceptable RMSE — a finding invisible to standard single-split evaluation.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28600" y="3950208"/>
            <a:ext cx="8686800" cy="969264"/>
          </a:xfrm>
          <a:prstGeom prst="rect">
            <a:avLst/>
          </a:prstGeom>
          <a:solidFill>
            <a:srgbClr val="F1F8F9"/>
          </a:solidFill>
          <a:ln w="6350">
            <a:solidFill>
              <a:srgbClr val="9A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950208"/>
            <a:ext cx="64008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950208"/>
            <a:ext cx="3657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402336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the contribution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33425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four-criterion reliability framework — not the Ridge model or the specific semesters — is the transferable output. Applied periodically to updated cohort data, it generates institution-specific reliability insights under changing academic distributions.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9A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Research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 Explainability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RQ: How does the explanatory importance of the strongest predictors of final GPA evolve over time, and which features serve as early indicators of potential underperformance?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78608"/>
            <a:ext cx="2560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GPA prediction at each semester snapshot?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72384"/>
            <a:ext cx="2560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07238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feature importance shift as more academic data accumulates?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2560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early-semester features consistently signal future underperformance?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059936"/>
            <a:ext cx="2560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405993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pre-academic features (Z-score) remain important as semester GPAs accumulate?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834640" cy="3200400"/>
          </a:xfrm>
          <a:prstGeom prst="rect">
            <a:avLst/>
          </a:prstGeom>
          <a:solidFill>
            <a:srgbClr val="0D3340"/>
          </a:solidFill>
          <a:ln w="63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on test set per semester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(RF) / Linear SHAP (Ridge)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87121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per feature over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3467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 via CV fold stability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8221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underperforming group signals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Arnold, K. E., &amp; Pistilli, M. D. (2012). Course signals at Purdue: Using learning analytics to increase student success. Proceedings of the 2nd International Conference on Learning Analytics and Knowledge (LAK '12), 267–270.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228600" y="1426464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Barocas, S., Hardt, M., &amp; Narayanan, A. (2019). Fairness and Machine Learning: Limitations and Opportunities. fairmlbook.org.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28600" y="2029968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Chouldechova, A. (2017). Fair prediction with disparate impact: A study of bias in recidivism prediction instruments. Big Data, 5(2), 153–163.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28600" y="2633472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Essa, A., &amp; Ayad, H. (2012). Improving student retention using predictive models and data visualisation. Proceedings of the International Conference on e-Learning, e-Business, Enterprise Information Systems, and e-Government.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28600" y="3236976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236976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Mukherjee, S., Tamayo, P., Rogers, S., Rifkin, R., Engle, A., Campbell, C., Golub, T. R., &amp; Mesirov, J. P. (2003). Estimating dataset size requirements for classifying DNA microarray data. Journal of Computational Biology, 10(2), 119–142.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28600" y="3840480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8404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 Journal of Machine Learning Research, 12, 2825–2830.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28600" y="4443984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44398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Romero, C., &amp; Ventura, S. (2010). Educational data mining: A review of the state of the art. IEEE Transactions on Systems, Man, and Cybernetics, Part C, 40(6), 601–618.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1798</Words>
  <Application>Microsoft Office PowerPoint</Application>
  <PresentationFormat>On-screen Show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Stability-Centered Framework for Early Final GPA Prediction</dc:title>
  <dc:subject>PptxGenJS Presentation</dc:subject>
  <dc:creator>PptxGenJS</dc:creator>
  <cp:lastModifiedBy>Sayuri Witharana</cp:lastModifiedBy>
  <cp:revision>4</cp:revision>
  <dcterms:created xsi:type="dcterms:W3CDTF">2026-05-06T20:17:57Z</dcterms:created>
  <dcterms:modified xsi:type="dcterms:W3CDTF">2026-05-07T08:02:41Z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0bc9eb0-c3d3-4b81-8598-b58d5fac2d9d_Enabled">
    <vt:lpwstr>true</vt:lpwstr>
  </property>
  <property fmtid="{D5CDD505-2E9C-101B-9397-08002B2CF9AE}" pid="3" name="MSIP_Label_c0bc9eb0-c3d3-4b81-8598-b58d5fac2d9d_SetDate">
    <vt:lpwstr>2026-05-06T20:22:10Z</vt:lpwstr>
  </property>
  <property fmtid="{D5CDD505-2E9C-101B-9397-08002B2CF9AE}" pid="4" name="MSIP_Label_c0bc9eb0-c3d3-4b81-8598-b58d5fac2d9d_Method">
    <vt:lpwstr>Privileged</vt:lpwstr>
  </property>
  <property fmtid="{D5CDD505-2E9C-101B-9397-08002B2CF9AE}" pid="5" name="MSIP_Label_c0bc9eb0-c3d3-4b81-8598-b58d5fac2d9d_Name">
    <vt:lpwstr>Confidential – Internal</vt:lpwstr>
  </property>
  <property fmtid="{D5CDD505-2E9C-101B-9397-08002B2CF9AE}" pid="6" name="MSIP_Label_c0bc9eb0-c3d3-4b81-8598-b58d5fac2d9d_SiteId">
    <vt:lpwstr>77ab64d0-48c5-4723-9a64-eb43ae84e773</vt:lpwstr>
  </property>
  <property fmtid="{D5CDD505-2E9C-101B-9397-08002B2CF9AE}" pid="7" name="MSIP_Label_c0bc9eb0-c3d3-4b81-8598-b58d5fac2d9d_ActionId">
    <vt:lpwstr>8795490b-97cb-44ad-b730-a4ffb7ec170d</vt:lpwstr>
  </property>
  <property fmtid="{D5CDD505-2E9C-101B-9397-08002B2CF9AE}" pid="8" name="MSIP_Label_c0bc9eb0-c3d3-4b81-8598-b58d5fac2d9d_ContentBits">
    <vt:lpwstr>0</vt:lpwstr>
  </property>
  <property fmtid="{D5CDD505-2E9C-101B-9397-08002B2CF9AE}" pid="9" name="MSIP_Label_c0bc9eb0-c3d3-4b81-8598-b58d5fac2d9d_Tag">
    <vt:lpwstr>10, 0, 1, 1</vt:lpwstr>
  </property>
</Properties>
</file>